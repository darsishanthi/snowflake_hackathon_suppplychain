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5942" y="96647"/>
            <a:ext cx="141605" cy="8534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296664" y="96646"/>
            <a:ext cx="736600" cy="85725"/>
          </a:xfrm>
          <a:custGeom>
            <a:avLst/>
            <a:gdLst/>
            <a:ahLst/>
            <a:cxnLst/>
            <a:rect l="l" t="t" r="r" b="b"/>
            <a:pathLst>
              <a:path w="736600" h="85725">
                <a:moveTo>
                  <a:pt x="30810" y="48907"/>
                </a:moveTo>
                <a:lnTo>
                  <a:pt x="0" y="48907"/>
                </a:lnTo>
                <a:lnTo>
                  <a:pt x="0" y="58039"/>
                </a:lnTo>
                <a:lnTo>
                  <a:pt x="30810" y="58039"/>
                </a:lnTo>
                <a:lnTo>
                  <a:pt x="30810" y="48907"/>
                </a:lnTo>
                <a:close/>
              </a:path>
              <a:path w="736600" h="85725">
                <a:moveTo>
                  <a:pt x="143764" y="56134"/>
                </a:moveTo>
                <a:lnTo>
                  <a:pt x="132461" y="56134"/>
                </a:lnTo>
                <a:lnTo>
                  <a:pt x="131826" y="62738"/>
                </a:lnTo>
                <a:lnTo>
                  <a:pt x="129413" y="67818"/>
                </a:lnTo>
                <a:lnTo>
                  <a:pt x="121031" y="74422"/>
                </a:lnTo>
                <a:lnTo>
                  <a:pt x="115138" y="76200"/>
                </a:lnTo>
                <a:lnTo>
                  <a:pt x="102590" y="76200"/>
                </a:lnTo>
                <a:lnTo>
                  <a:pt x="96774" y="74676"/>
                </a:lnTo>
                <a:lnTo>
                  <a:pt x="92583" y="71628"/>
                </a:lnTo>
                <a:lnTo>
                  <a:pt x="88392" y="68707"/>
                </a:lnTo>
                <a:lnTo>
                  <a:pt x="85471" y="64643"/>
                </a:lnTo>
                <a:lnTo>
                  <a:pt x="81661" y="54483"/>
                </a:lnTo>
                <a:lnTo>
                  <a:pt x="80645" y="48895"/>
                </a:lnTo>
                <a:lnTo>
                  <a:pt x="80645" y="36449"/>
                </a:lnTo>
                <a:lnTo>
                  <a:pt x="102108" y="9017"/>
                </a:lnTo>
                <a:lnTo>
                  <a:pt x="112649" y="9017"/>
                </a:lnTo>
                <a:lnTo>
                  <a:pt x="116205" y="9652"/>
                </a:lnTo>
                <a:lnTo>
                  <a:pt x="119634" y="11049"/>
                </a:lnTo>
                <a:lnTo>
                  <a:pt x="122936" y="12319"/>
                </a:lnTo>
                <a:lnTo>
                  <a:pt x="125730" y="14351"/>
                </a:lnTo>
                <a:lnTo>
                  <a:pt x="130302" y="19685"/>
                </a:lnTo>
                <a:lnTo>
                  <a:pt x="131699" y="23114"/>
                </a:lnTo>
                <a:lnTo>
                  <a:pt x="132156" y="26924"/>
                </a:lnTo>
                <a:lnTo>
                  <a:pt x="132207" y="27305"/>
                </a:lnTo>
                <a:lnTo>
                  <a:pt x="143383" y="27305"/>
                </a:lnTo>
                <a:lnTo>
                  <a:pt x="142875" y="21082"/>
                </a:lnTo>
                <a:lnTo>
                  <a:pt x="140843" y="16002"/>
                </a:lnTo>
                <a:lnTo>
                  <a:pt x="137541" y="11938"/>
                </a:lnTo>
                <a:lnTo>
                  <a:pt x="135064" y="9017"/>
                </a:lnTo>
                <a:lnTo>
                  <a:pt x="134112" y="7874"/>
                </a:lnTo>
                <a:lnTo>
                  <a:pt x="129921" y="4953"/>
                </a:lnTo>
                <a:lnTo>
                  <a:pt x="124841" y="2921"/>
                </a:lnTo>
                <a:lnTo>
                  <a:pt x="119888" y="889"/>
                </a:lnTo>
                <a:lnTo>
                  <a:pt x="114427" y="0"/>
                </a:lnTo>
                <a:lnTo>
                  <a:pt x="100203" y="0"/>
                </a:lnTo>
                <a:lnTo>
                  <a:pt x="70612" y="26924"/>
                </a:lnTo>
                <a:lnTo>
                  <a:pt x="69215" y="34290"/>
                </a:lnTo>
                <a:lnTo>
                  <a:pt x="69215" y="51054"/>
                </a:lnTo>
                <a:lnTo>
                  <a:pt x="92964" y="83439"/>
                </a:lnTo>
                <a:lnTo>
                  <a:pt x="100203" y="85344"/>
                </a:lnTo>
                <a:lnTo>
                  <a:pt x="115062" y="85344"/>
                </a:lnTo>
                <a:lnTo>
                  <a:pt x="120650" y="84201"/>
                </a:lnTo>
                <a:lnTo>
                  <a:pt x="125730" y="82042"/>
                </a:lnTo>
                <a:lnTo>
                  <a:pt x="130810" y="80010"/>
                </a:lnTo>
                <a:lnTo>
                  <a:pt x="134874" y="76708"/>
                </a:lnTo>
                <a:lnTo>
                  <a:pt x="135242" y="76200"/>
                </a:lnTo>
                <a:lnTo>
                  <a:pt x="141224" y="68072"/>
                </a:lnTo>
                <a:lnTo>
                  <a:pt x="143129" y="62738"/>
                </a:lnTo>
                <a:lnTo>
                  <a:pt x="143764" y="56134"/>
                </a:lnTo>
                <a:close/>
              </a:path>
              <a:path w="736600" h="85725">
                <a:moveTo>
                  <a:pt x="212598" y="47752"/>
                </a:moveTo>
                <a:lnTo>
                  <a:pt x="211505" y="42291"/>
                </a:lnTo>
                <a:lnTo>
                  <a:pt x="211455" y="42037"/>
                </a:lnTo>
                <a:lnTo>
                  <a:pt x="209169" y="37465"/>
                </a:lnTo>
                <a:lnTo>
                  <a:pt x="206883" y="32766"/>
                </a:lnTo>
                <a:lnTo>
                  <a:pt x="205346" y="31115"/>
                </a:lnTo>
                <a:lnTo>
                  <a:pt x="203581" y="29210"/>
                </a:lnTo>
                <a:lnTo>
                  <a:pt x="201930" y="28219"/>
                </a:lnTo>
                <a:lnTo>
                  <a:pt x="201930" y="49784"/>
                </a:lnTo>
                <a:lnTo>
                  <a:pt x="201930" y="58547"/>
                </a:lnTo>
                <a:lnTo>
                  <a:pt x="188341" y="76962"/>
                </a:lnTo>
                <a:lnTo>
                  <a:pt x="179578" y="76962"/>
                </a:lnTo>
                <a:lnTo>
                  <a:pt x="166497" y="58547"/>
                </a:lnTo>
                <a:lnTo>
                  <a:pt x="166497" y="49784"/>
                </a:lnTo>
                <a:lnTo>
                  <a:pt x="179578" y="31115"/>
                </a:lnTo>
                <a:lnTo>
                  <a:pt x="188341" y="31115"/>
                </a:lnTo>
                <a:lnTo>
                  <a:pt x="201930" y="49784"/>
                </a:lnTo>
                <a:lnTo>
                  <a:pt x="201930" y="28219"/>
                </a:lnTo>
                <a:lnTo>
                  <a:pt x="199390" y="26670"/>
                </a:lnTo>
                <a:lnTo>
                  <a:pt x="195072" y="24130"/>
                </a:lnTo>
                <a:lnTo>
                  <a:pt x="189992" y="22860"/>
                </a:lnTo>
                <a:lnTo>
                  <a:pt x="178054" y="22860"/>
                </a:lnTo>
                <a:lnTo>
                  <a:pt x="172974" y="24130"/>
                </a:lnTo>
                <a:lnTo>
                  <a:pt x="164592" y="29210"/>
                </a:lnTo>
                <a:lnTo>
                  <a:pt x="161417" y="32766"/>
                </a:lnTo>
                <a:lnTo>
                  <a:pt x="159258" y="37465"/>
                </a:lnTo>
                <a:lnTo>
                  <a:pt x="156972" y="42037"/>
                </a:lnTo>
                <a:lnTo>
                  <a:pt x="155956" y="47752"/>
                </a:lnTo>
                <a:lnTo>
                  <a:pt x="155956" y="60579"/>
                </a:lnTo>
                <a:lnTo>
                  <a:pt x="156921" y="65913"/>
                </a:lnTo>
                <a:lnTo>
                  <a:pt x="156972" y="66167"/>
                </a:lnTo>
                <a:lnTo>
                  <a:pt x="159258" y="70739"/>
                </a:lnTo>
                <a:lnTo>
                  <a:pt x="161417" y="75438"/>
                </a:lnTo>
                <a:lnTo>
                  <a:pt x="164592" y="78994"/>
                </a:lnTo>
                <a:lnTo>
                  <a:pt x="168783" y="81407"/>
                </a:lnTo>
                <a:lnTo>
                  <a:pt x="172974" y="83947"/>
                </a:lnTo>
                <a:lnTo>
                  <a:pt x="178054" y="85217"/>
                </a:lnTo>
                <a:lnTo>
                  <a:pt x="189992" y="85217"/>
                </a:lnTo>
                <a:lnTo>
                  <a:pt x="195072" y="83947"/>
                </a:lnTo>
                <a:lnTo>
                  <a:pt x="199390" y="81407"/>
                </a:lnTo>
                <a:lnTo>
                  <a:pt x="203581" y="78994"/>
                </a:lnTo>
                <a:lnTo>
                  <a:pt x="205460" y="76962"/>
                </a:lnTo>
                <a:lnTo>
                  <a:pt x="206883" y="75438"/>
                </a:lnTo>
                <a:lnTo>
                  <a:pt x="209169" y="70739"/>
                </a:lnTo>
                <a:lnTo>
                  <a:pt x="211455" y="66167"/>
                </a:lnTo>
                <a:lnTo>
                  <a:pt x="212598" y="60579"/>
                </a:lnTo>
                <a:lnTo>
                  <a:pt x="212598" y="47752"/>
                </a:lnTo>
                <a:close/>
              </a:path>
              <a:path w="736600" h="85725">
                <a:moveTo>
                  <a:pt x="279781" y="38354"/>
                </a:moveTo>
                <a:lnTo>
                  <a:pt x="278358" y="33274"/>
                </a:lnTo>
                <a:lnTo>
                  <a:pt x="278257" y="32893"/>
                </a:lnTo>
                <a:lnTo>
                  <a:pt x="277495" y="31877"/>
                </a:lnTo>
                <a:lnTo>
                  <a:pt x="275336" y="28956"/>
                </a:lnTo>
                <a:lnTo>
                  <a:pt x="272288" y="25146"/>
                </a:lnTo>
                <a:lnTo>
                  <a:pt x="267462" y="23241"/>
                </a:lnTo>
                <a:lnTo>
                  <a:pt x="255524" y="23241"/>
                </a:lnTo>
                <a:lnTo>
                  <a:pt x="251079" y="24257"/>
                </a:lnTo>
                <a:lnTo>
                  <a:pt x="244221" y="28575"/>
                </a:lnTo>
                <a:lnTo>
                  <a:pt x="241554" y="30861"/>
                </a:lnTo>
                <a:lnTo>
                  <a:pt x="239649" y="33274"/>
                </a:lnTo>
                <a:lnTo>
                  <a:pt x="239306" y="25146"/>
                </a:lnTo>
                <a:lnTo>
                  <a:pt x="239268" y="24003"/>
                </a:lnTo>
                <a:lnTo>
                  <a:pt x="229362" y="24003"/>
                </a:lnTo>
                <a:lnTo>
                  <a:pt x="229362" y="84201"/>
                </a:lnTo>
                <a:lnTo>
                  <a:pt x="239776" y="84201"/>
                </a:lnTo>
                <a:lnTo>
                  <a:pt x="239776" y="41529"/>
                </a:lnTo>
                <a:lnTo>
                  <a:pt x="241554" y="39116"/>
                </a:lnTo>
                <a:lnTo>
                  <a:pt x="243967" y="36957"/>
                </a:lnTo>
                <a:lnTo>
                  <a:pt x="249478" y="33274"/>
                </a:lnTo>
                <a:lnTo>
                  <a:pt x="250063" y="32893"/>
                </a:lnTo>
                <a:lnTo>
                  <a:pt x="253873" y="31877"/>
                </a:lnTo>
                <a:lnTo>
                  <a:pt x="261366" y="31877"/>
                </a:lnTo>
                <a:lnTo>
                  <a:pt x="269494" y="43942"/>
                </a:lnTo>
                <a:lnTo>
                  <a:pt x="269494" y="84201"/>
                </a:lnTo>
                <a:lnTo>
                  <a:pt x="279781" y="84201"/>
                </a:lnTo>
                <a:lnTo>
                  <a:pt x="279781" y="38354"/>
                </a:lnTo>
                <a:close/>
              </a:path>
              <a:path w="736600" h="85725">
                <a:moveTo>
                  <a:pt x="325882" y="24003"/>
                </a:moveTo>
                <a:lnTo>
                  <a:pt x="311912" y="24003"/>
                </a:lnTo>
                <a:lnTo>
                  <a:pt x="311912" y="17018"/>
                </a:lnTo>
                <a:lnTo>
                  <a:pt x="316611" y="9144"/>
                </a:lnTo>
                <a:lnTo>
                  <a:pt x="325755" y="9144"/>
                </a:lnTo>
                <a:lnTo>
                  <a:pt x="325755" y="1016"/>
                </a:lnTo>
                <a:lnTo>
                  <a:pt x="315849" y="1016"/>
                </a:lnTo>
                <a:lnTo>
                  <a:pt x="312801" y="1524"/>
                </a:lnTo>
                <a:lnTo>
                  <a:pt x="301625" y="24003"/>
                </a:lnTo>
                <a:lnTo>
                  <a:pt x="291592" y="24003"/>
                </a:lnTo>
                <a:lnTo>
                  <a:pt x="291592" y="32385"/>
                </a:lnTo>
                <a:lnTo>
                  <a:pt x="301625" y="32385"/>
                </a:lnTo>
                <a:lnTo>
                  <a:pt x="301625" y="84201"/>
                </a:lnTo>
                <a:lnTo>
                  <a:pt x="311912" y="84201"/>
                </a:lnTo>
                <a:lnTo>
                  <a:pt x="311912" y="32385"/>
                </a:lnTo>
                <a:lnTo>
                  <a:pt x="325882" y="32385"/>
                </a:lnTo>
                <a:lnTo>
                  <a:pt x="325882" y="24003"/>
                </a:lnTo>
                <a:close/>
              </a:path>
              <a:path w="736600" h="85725">
                <a:moveTo>
                  <a:pt x="347980" y="24003"/>
                </a:moveTo>
                <a:lnTo>
                  <a:pt x="337566" y="24003"/>
                </a:lnTo>
                <a:lnTo>
                  <a:pt x="337566" y="84201"/>
                </a:lnTo>
                <a:lnTo>
                  <a:pt x="347980" y="84201"/>
                </a:lnTo>
                <a:lnTo>
                  <a:pt x="347980" y="24003"/>
                </a:lnTo>
                <a:close/>
              </a:path>
              <a:path w="736600" h="85725">
                <a:moveTo>
                  <a:pt x="349250" y="5080"/>
                </a:moveTo>
                <a:lnTo>
                  <a:pt x="348615" y="3556"/>
                </a:lnTo>
                <a:lnTo>
                  <a:pt x="347472" y="2413"/>
                </a:lnTo>
                <a:lnTo>
                  <a:pt x="346202" y="1270"/>
                </a:lnTo>
                <a:lnTo>
                  <a:pt x="344678" y="762"/>
                </a:lnTo>
                <a:lnTo>
                  <a:pt x="340741" y="762"/>
                </a:lnTo>
                <a:lnTo>
                  <a:pt x="339217" y="1270"/>
                </a:lnTo>
                <a:lnTo>
                  <a:pt x="336931" y="3556"/>
                </a:lnTo>
                <a:lnTo>
                  <a:pt x="336296" y="5080"/>
                </a:lnTo>
                <a:lnTo>
                  <a:pt x="336296" y="8509"/>
                </a:lnTo>
                <a:lnTo>
                  <a:pt x="336931" y="9906"/>
                </a:lnTo>
                <a:lnTo>
                  <a:pt x="339217" y="12192"/>
                </a:lnTo>
                <a:lnTo>
                  <a:pt x="340741" y="12700"/>
                </a:lnTo>
                <a:lnTo>
                  <a:pt x="344678" y="12700"/>
                </a:lnTo>
                <a:lnTo>
                  <a:pt x="346202" y="12192"/>
                </a:lnTo>
                <a:lnTo>
                  <a:pt x="347472" y="11049"/>
                </a:lnTo>
                <a:lnTo>
                  <a:pt x="348615" y="9906"/>
                </a:lnTo>
                <a:lnTo>
                  <a:pt x="349250" y="8509"/>
                </a:lnTo>
                <a:lnTo>
                  <a:pt x="349250" y="5080"/>
                </a:lnTo>
                <a:close/>
              </a:path>
              <a:path w="736600" h="85725">
                <a:moveTo>
                  <a:pt x="419100" y="1016"/>
                </a:moveTo>
                <a:lnTo>
                  <a:pt x="408813" y="1016"/>
                </a:lnTo>
                <a:lnTo>
                  <a:pt x="408813" y="33401"/>
                </a:lnTo>
                <a:lnTo>
                  <a:pt x="408813" y="43053"/>
                </a:lnTo>
                <a:lnTo>
                  <a:pt x="408813" y="66167"/>
                </a:lnTo>
                <a:lnTo>
                  <a:pt x="407035" y="69088"/>
                </a:lnTo>
                <a:lnTo>
                  <a:pt x="404622" y="71628"/>
                </a:lnTo>
                <a:lnTo>
                  <a:pt x="401701" y="73787"/>
                </a:lnTo>
                <a:lnTo>
                  <a:pt x="398589" y="75946"/>
                </a:lnTo>
                <a:lnTo>
                  <a:pt x="398310" y="75946"/>
                </a:lnTo>
                <a:lnTo>
                  <a:pt x="395097" y="76835"/>
                </a:lnTo>
                <a:lnTo>
                  <a:pt x="385699" y="76835"/>
                </a:lnTo>
                <a:lnTo>
                  <a:pt x="381889" y="74930"/>
                </a:lnTo>
                <a:lnTo>
                  <a:pt x="376555" y="67056"/>
                </a:lnTo>
                <a:lnTo>
                  <a:pt x="375285" y="61341"/>
                </a:lnTo>
                <a:lnTo>
                  <a:pt x="375285" y="46736"/>
                </a:lnTo>
                <a:lnTo>
                  <a:pt x="376618" y="41402"/>
                </a:lnTo>
                <a:lnTo>
                  <a:pt x="376682" y="41148"/>
                </a:lnTo>
                <a:lnTo>
                  <a:pt x="379476" y="37211"/>
                </a:lnTo>
                <a:lnTo>
                  <a:pt x="382270" y="33401"/>
                </a:lnTo>
                <a:lnTo>
                  <a:pt x="386334" y="31369"/>
                </a:lnTo>
                <a:lnTo>
                  <a:pt x="395986" y="31369"/>
                </a:lnTo>
                <a:lnTo>
                  <a:pt x="408813" y="43053"/>
                </a:lnTo>
                <a:lnTo>
                  <a:pt x="408813" y="33401"/>
                </a:lnTo>
                <a:lnTo>
                  <a:pt x="407593" y="31369"/>
                </a:lnTo>
                <a:lnTo>
                  <a:pt x="406908" y="30226"/>
                </a:lnTo>
                <a:lnTo>
                  <a:pt x="404368" y="27686"/>
                </a:lnTo>
                <a:lnTo>
                  <a:pt x="398018" y="23876"/>
                </a:lnTo>
                <a:lnTo>
                  <a:pt x="394335" y="22987"/>
                </a:lnTo>
                <a:lnTo>
                  <a:pt x="384810" y="22987"/>
                </a:lnTo>
                <a:lnTo>
                  <a:pt x="380365" y="24130"/>
                </a:lnTo>
                <a:lnTo>
                  <a:pt x="376555" y="26543"/>
                </a:lnTo>
                <a:lnTo>
                  <a:pt x="372872" y="28829"/>
                </a:lnTo>
                <a:lnTo>
                  <a:pt x="369824" y="32258"/>
                </a:lnTo>
                <a:lnTo>
                  <a:pt x="365861" y="41148"/>
                </a:lnTo>
                <a:lnTo>
                  <a:pt x="365760" y="41402"/>
                </a:lnTo>
                <a:lnTo>
                  <a:pt x="364807" y="46736"/>
                </a:lnTo>
                <a:lnTo>
                  <a:pt x="364820" y="61341"/>
                </a:lnTo>
                <a:lnTo>
                  <a:pt x="365569" y="66167"/>
                </a:lnTo>
                <a:lnTo>
                  <a:pt x="365633" y="66548"/>
                </a:lnTo>
                <a:lnTo>
                  <a:pt x="367665" y="71247"/>
                </a:lnTo>
                <a:lnTo>
                  <a:pt x="369570" y="75946"/>
                </a:lnTo>
                <a:lnTo>
                  <a:pt x="372364" y="79502"/>
                </a:lnTo>
                <a:lnTo>
                  <a:pt x="375920" y="81788"/>
                </a:lnTo>
                <a:lnTo>
                  <a:pt x="379476" y="84201"/>
                </a:lnTo>
                <a:lnTo>
                  <a:pt x="383794" y="85344"/>
                </a:lnTo>
                <a:lnTo>
                  <a:pt x="393192" y="85344"/>
                </a:lnTo>
                <a:lnTo>
                  <a:pt x="397256" y="84455"/>
                </a:lnTo>
                <a:lnTo>
                  <a:pt x="400558" y="82550"/>
                </a:lnTo>
                <a:lnTo>
                  <a:pt x="403987" y="80772"/>
                </a:lnTo>
                <a:lnTo>
                  <a:pt x="406654" y="78359"/>
                </a:lnTo>
                <a:lnTo>
                  <a:pt x="407771" y="76835"/>
                </a:lnTo>
                <a:lnTo>
                  <a:pt x="408813" y="75438"/>
                </a:lnTo>
                <a:lnTo>
                  <a:pt x="408901" y="76835"/>
                </a:lnTo>
                <a:lnTo>
                  <a:pt x="409016" y="78359"/>
                </a:lnTo>
                <a:lnTo>
                  <a:pt x="409105" y="79502"/>
                </a:lnTo>
                <a:lnTo>
                  <a:pt x="409194" y="80772"/>
                </a:lnTo>
                <a:lnTo>
                  <a:pt x="409270" y="81788"/>
                </a:lnTo>
                <a:lnTo>
                  <a:pt x="409321" y="82550"/>
                </a:lnTo>
                <a:lnTo>
                  <a:pt x="409448" y="84201"/>
                </a:lnTo>
                <a:lnTo>
                  <a:pt x="419100" y="84201"/>
                </a:lnTo>
                <a:lnTo>
                  <a:pt x="419100" y="75438"/>
                </a:lnTo>
                <a:lnTo>
                  <a:pt x="419100" y="33401"/>
                </a:lnTo>
                <a:lnTo>
                  <a:pt x="419100" y="1016"/>
                </a:lnTo>
                <a:close/>
              </a:path>
              <a:path w="736600" h="85725">
                <a:moveTo>
                  <a:pt x="489839" y="64770"/>
                </a:moveTo>
                <a:lnTo>
                  <a:pt x="479552" y="64770"/>
                </a:lnTo>
                <a:lnTo>
                  <a:pt x="479488" y="66548"/>
                </a:lnTo>
                <a:lnTo>
                  <a:pt x="479361" y="68961"/>
                </a:lnTo>
                <a:lnTo>
                  <a:pt x="478155" y="71882"/>
                </a:lnTo>
                <a:lnTo>
                  <a:pt x="475488" y="74041"/>
                </a:lnTo>
                <a:lnTo>
                  <a:pt x="472948" y="76327"/>
                </a:lnTo>
                <a:lnTo>
                  <a:pt x="469392" y="77343"/>
                </a:lnTo>
                <a:lnTo>
                  <a:pt x="460375" y="77343"/>
                </a:lnTo>
                <a:lnTo>
                  <a:pt x="448564" y="66548"/>
                </a:lnTo>
                <a:lnTo>
                  <a:pt x="447294" y="63246"/>
                </a:lnTo>
                <a:lnTo>
                  <a:pt x="446722" y="60071"/>
                </a:lnTo>
                <a:lnTo>
                  <a:pt x="446659" y="55753"/>
                </a:lnTo>
                <a:lnTo>
                  <a:pt x="489458" y="55753"/>
                </a:lnTo>
                <a:lnTo>
                  <a:pt x="489585" y="55372"/>
                </a:lnTo>
                <a:lnTo>
                  <a:pt x="489648" y="48133"/>
                </a:lnTo>
                <a:lnTo>
                  <a:pt x="489699" y="42545"/>
                </a:lnTo>
                <a:lnTo>
                  <a:pt x="488403" y="38354"/>
                </a:lnTo>
                <a:lnTo>
                  <a:pt x="487426" y="35306"/>
                </a:lnTo>
                <a:lnTo>
                  <a:pt x="483209" y="30861"/>
                </a:lnTo>
                <a:lnTo>
                  <a:pt x="479552" y="27012"/>
                </a:lnTo>
                <a:lnTo>
                  <a:pt x="479552" y="48133"/>
                </a:lnTo>
                <a:lnTo>
                  <a:pt x="446659" y="48133"/>
                </a:lnTo>
                <a:lnTo>
                  <a:pt x="458470" y="30861"/>
                </a:lnTo>
                <a:lnTo>
                  <a:pt x="468503" y="30861"/>
                </a:lnTo>
                <a:lnTo>
                  <a:pt x="479552" y="48133"/>
                </a:lnTo>
                <a:lnTo>
                  <a:pt x="479552" y="27012"/>
                </a:lnTo>
                <a:lnTo>
                  <a:pt x="478155" y="25527"/>
                </a:lnTo>
                <a:lnTo>
                  <a:pt x="471678" y="22987"/>
                </a:lnTo>
                <a:lnTo>
                  <a:pt x="457327" y="22987"/>
                </a:lnTo>
                <a:lnTo>
                  <a:pt x="439293" y="37846"/>
                </a:lnTo>
                <a:lnTo>
                  <a:pt x="437261" y="42545"/>
                </a:lnTo>
                <a:lnTo>
                  <a:pt x="436372" y="48133"/>
                </a:lnTo>
                <a:lnTo>
                  <a:pt x="436372" y="60071"/>
                </a:lnTo>
                <a:lnTo>
                  <a:pt x="437172" y="64770"/>
                </a:lnTo>
                <a:lnTo>
                  <a:pt x="437261" y="65278"/>
                </a:lnTo>
                <a:lnTo>
                  <a:pt x="439178" y="69723"/>
                </a:lnTo>
                <a:lnTo>
                  <a:pt x="441325" y="74803"/>
                </a:lnTo>
                <a:lnTo>
                  <a:pt x="444500" y="78486"/>
                </a:lnTo>
                <a:lnTo>
                  <a:pt x="448691" y="81153"/>
                </a:lnTo>
                <a:lnTo>
                  <a:pt x="452755" y="83947"/>
                </a:lnTo>
                <a:lnTo>
                  <a:pt x="458216" y="85344"/>
                </a:lnTo>
                <a:lnTo>
                  <a:pt x="469773" y="85344"/>
                </a:lnTo>
                <a:lnTo>
                  <a:pt x="474218" y="84455"/>
                </a:lnTo>
                <a:lnTo>
                  <a:pt x="481584" y="81153"/>
                </a:lnTo>
                <a:lnTo>
                  <a:pt x="484505" y="78740"/>
                </a:lnTo>
                <a:lnTo>
                  <a:pt x="485432" y="77343"/>
                </a:lnTo>
                <a:lnTo>
                  <a:pt x="488569" y="72644"/>
                </a:lnTo>
                <a:lnTo>
                  <a:pt x="489712" y="68961"/>
                </a:lnTo>
                <a:lnTo>
                  <a:pt x="489839" y="64770"/>
                </a:lnTo>
                <a:close/>
              </a:path>
              <a:path w="736600" h="85725">
                <a:moveTo>
                  <a:pt x="557149" y="38354"/>
                </a:moveTo>
                <a:lnTo>
                  <a:pt x="555726" y="33274"/>
                </a:lnTo>
                <a:lnTo>
                  <a:pt x="555625" y="32893"/>
                </a:lnTo>
                <a:lnTo>
                  <a:pt x="554863" y="31877"/>
                </a:lnTo>
                <a:lnTo>
                  <a:pt x="552704" y="28956"/>
                </a:lnTo>
                <a:lnTo>
                  <a:pt x="549656" y="25146"/>
                </a:lnTo>
                <a:lnTo>
                  <a:pt x="544830" y="23241"/>
                </a:lnTo>
                <a:lnTo>
                  <a:pt x="532892" y="23241"/>
                </a:lnTo>
                <a:lnTo>
                  <a:pt x="528447" y="24257"/>
                </a:lnTo>
                <a:lnTo>
                  <a:pt x="521589" y="28575"/>
                </a:lnTo>
                <a:lnTo>
                  <a:pt x="518922" y="30861"/>
                </a:lnTo>
                <a:lnTo>
                  <a:pt x="517017" y="33274"/>
                </a:lnTo>
                <a:lnTo>
                  <a:pt x="516674" y="25146"/>
                </a:lnTo>
                <a:lnTo>
                  <a:pt x="516636" y="24003"/>
                </a:lnTo>
                <a:lnTo>
                  <a:pt x="506730" y="24003"/>
                </a:lnTo>
                <a:lnTo>
                  <a:pt x="506730" y="84201"/>
                </a:lnTo>
                <a:lnTo>
                  <a:pt x="517144" y="84201"/>
                </a:lnTo>
                <a:lnTo>
                  <a:pt x="517144" y="41529"/>
                </a:lnTo>
                <a:lnTo>
                  <a:pt x="518922" y="39116"/>
                </a:lnTo>
                <a:lnTo>
                  <a:pt x="521335" y="36957"/>
                </a:lnTo>
                <a:lnTo>
                  <a:pt x="526846" y="33274"/>
                </a:lnTo>
                <a:lnTo>
                  <a:pt x="527431" y="32893"/>
                </a:lnTo>
                <a:lnTo>
                  <a:pt x="531241" y="31877"/>
                </a:lnTo>
                <a:lnTo>
                  <a:pt x="538734" y="31877"/>
                </a:lnTo>
                <a:lnTo>
                  <a:pt x="546862" y="43942"/>
                </a:lnTo>
                <a:lnTo>
                  <a:pt x="546862" y="84201"/>
                </a:lnTo>
                <a:lnTo>
                  <a:pt x="557149" y="84201"/>
                </a:lnTo>
                <a:lnTo>
                  <a:pt x="557149" y="38354"/>
                </a:lnTo>
                <a:close/>
              </a:path>
              <a:path w="736600" h="85725">
                <a:moveTo>
                  <a:pt x="604139" y="75819"/>
                </a:moveTo>
                <a:lnTo>
                  <a:pt x="593979" y="75819"/>
                </a:lnTo>
                <a:lnTo>
                  <a:pt x="591693" y="74803"/>
                </a:lnTo>
                <a:lnTo>
                  <a:pt x="590677" y="72898"/>
                </a:lnTo>
                <a:lnTo>
                  <a:pt x="589661" y="70866"/>
                </a:lnTo>
                <a:lnTo>
                  <a:pt x="589394" y="68834"/>
                </a:lnTo>
                <a:lnTo>
                  <a:pt x="589280" y="32385"/>
                </a:lnTo>
                <a:lnTo>
                  <a:pt x="604012" y="32385"/>
                </a:lnTo>
                <a:lnTo>
                  <a:pt x="604012" y="24003"/>
                </a:lnTo>
                <a:lnTo>
                  <a:pt x="589280" y="24003"/>
                </a:lnTo>
                <a:lnTo>
                  <a:pt x="589280" y="10287"/>
                </a:lnTo>
                <a:lnTo>
                  <a:pt x="578993" y="10287"/>
                </a:lnTo>
                <a:lnTo>
                  <a:pt x="578993" y="24003"/>
                </a:lnTo>
                <a:lnTo>
                  <a:pt x="568960" y="24003"/>
                </a:lnTo>
                <a:lnTo>
                  <a:pt x="568960" y="32385"/>
                </a:lnTo>
                <a:lnTo>
                  <a:pt x="578993" y="32385"/>
                </a:lnTo>
                <a:lnTo>
                  <a:pt x="578993" y="68834"/>
                </a:lnTo>
                <a:lnTo>
                  <a:pt x="579501" y="72263"/>
                </a:lnTo>
                <a:lnTo>
                  <a:pt x="592074" y="84201"/>
                </a:lnTo>
                <a:lnTo>
                  <a:pt x="604139" y="84201"/>
                </a:lnTo>
                <a:lnTo>
                  <a:pt x="604139" y="75819"/>
                </a:lnTo>
                <a:close/>
              </a:path>
              <a:path w="736600" h="85725">
                <a:moveTo>
                  <a:pt x="628396" y="24003"/>
                </a:moveTo>
                <a:lnTo>
                  <a:pt x="617982" y="24003"/>
                </a:lnTo>
                <a:lnTo>
                  <a:pt x="617982" y="84201"/>
                </a:lnTo>
                <a:lnTo>
                  <a:pt x="628396" y="84201"/>
                </a:lnTo>
                <a:lnTo>
                  <a:pt x="628396" y="24003"/>
                </a:lnTo>
                <a:close/>
              </a:path>
              <a:path w="736600" h="85725">
                <a:moveTo>
                  <a:pt x="629666" y="5080"/>
                </a:moveTo>
                <a:lnTo>
                  <a:pt x="629031" y="3556"/>
                </a:lnTo>
                <a:lnTo>
                  <a:pt x="627888" y="2413"/>
                </a:lnTo>
                <a:lnTo>
                  <a:pt x="626618" y="1270"/>
                </a:lnTo>
                <a:lnTo>
                  <a:pt x="625094" y="762"/>
                </a:lnTo>
                <a:lnTo>
                  <a:pt x="621157" y="762"/>
                </a:lnTo>
                <a:lnTo>
                  <a:pt x="619633" y="1270"/>
                </a:lnTo>
                <a:lnTo>
                  <a:pt x="617347" y="3556"/>
                </a:lnTo>
                <a:lnTo>
                  <a:pt x="616712" y="5080"/>
                </a:lnTo>
                <a:lnTo>
                  <a:pt x="616712" y="8509"/>
                </a:lnTo>
                <a:lnTo>
                  <a:pt x="617347" y="9906"/>
                </a:lnTo>
                <a:lnTo>
                  <a:pt x="619633" y="12192"/>
                </a:lnTo>
                <a:lnTo>
                  <a:pt x="621157" y="12700"/>
                </a:lnTo>
                <a:lnTo>
                  <a:pt x="625094" y="12700"/>
                </a:lnTo>
                <a:lnTo>
                  <a:pt x="626618" y="12192"/>
                </a:lnTo>
                <a:lnTo>
                  <a:pt x="627888" y="11049"/>
                </a:lnTo>
                <a:lnTo>
                  <a:pt x="629031" y="9906"/>
                </a:lnTo>
                <a:lnTo>
                  <a:pt x="629666" y="8509"/>
                </a:lnTo>
                <a:lnTo>
                  <a:pt x="629666" y="5080"/>
                </a:lnTo>
                <a:close/>
              </a:path>
              <a:path w="736600" h="85725">
                <a:moveTo>
                  <a:pt x="696468" y="54991"/>
                </a:moveTo>
                <a:lnTo>
                  <a:pt x="681482" y="23876"/>
                </a:lnTo>
                <a:lnTo>
                  <a:pt x="678688" y="23241"/>
                </a:lnTo>
                <a:lnTo>
                  <a:pt x="675767" y="22987"/>
                </a:lnTo>
                <a:lnTo>
                  <a:pt x="667893" y="22987"/>
                </a:lnTo>
                <a:lnTo>
                  <a:pt x="662851" y="23876"/>
                </a:lnTo>
                <a:lnTo>
                  <a:pt x="663232" y="23876"/>
                </a:lnTo>
                <a:lnTo>
                  <a:pt x="659892" y="25146"/>
                </a:lnTo>
                <a:lnTo>
                  <a:pt x="647827" y="38989"/>
                </a:lnTo>
                <a:lnTo>
                  <a:pt x="647827" y="43688"/>
                </a:lnTo>
                <a:lnTo>
                  <a:pt x="657860" y="43688"/>
                </a:lnTo>
                <a:lnTo>
                  <a:pt x="657961" y="38989"/>
                </a:lnTo>
                <a:lnTo>
                  <a:pt x="659142" y="36195"/>
                </a:lnTo>
                <a:lnTo>
                  <a:pt x="659257" y="35941"/>
                </a:lnTo>
                <a:lnTo>
                  <a:pt x="662178" y="33782"/>
                </a:lnTo>
                <a:lnTo>
                  <a:pt x="664972" y="31750"/>
                </a:lnTo>
                <a:lnTo>
                  <a:pt x="668528" y="30607"/>
                </a:lnTo>
                <a:lnTo>
                  <a:pt x="676529" y="30607"/>
                </a:lnTo>
                <a:lnTo>
                  <a:pt x="680237" y="31750"/>
                </a:lnTo>
                <a:lnTo>
                  <a:pt x="679996" y="31750"/>
                </a:lnTo>
                <a:lnTo>
                  <a:pt x="684911" y="35433"/>
                </a:lnTo>
                <a:lnTo>
                  <a:pt x="686181" y="38989"/>
                </a:lnTo>
                <a:lnTo>
                  <a:pt x="686181" y="48387"/>
                </a:lnTo>
                <a:lnTo>
                  <a:pt x="686054" y="48387"/>
                </a:lnTo>
                <a:lnTo>
                  <a:pt x="686054" y="54991"/>
                </a:lnTo>
                <a:lnTo>
                  <a:pt x="686054" y="67183"/>
                </a:lnTo>
                <a:lnTo>
                  <a:pt x="683895" y="70104"/>
                </a:lnTo>
                <a:lnTo>
                  <a:pt x="681101" y="72517"/>
                </a:lnTo>
                <a:lnTo>
                  <a:pt x="677799" y="74549"/>
                </a:lnTo>
                <a:lnTo>
                  <a:pt x="674497" y="76454"/>
                </a:lnTo>
                <a:lnTo>
                  <a:pt x="670814" y="77470"/>
                </a:lnTo>
                <a:lnTo>
                  <a:pt x="663067" y="77470"/>
                </a:lnTo>
                <a:lnTo>
                  <a:pt x="660146" y="76454"/>
                </a:lnTo>
                <a:lnTo>
                  <a:pt x="656336" y="72898"/>
                </a:lnTo>
                <a:lnTo>
                  <a:pt x="655447" y="70485"/>
                </a:lnTo>
                <a:lnTo>
                  <a:pt x="655447" y="63119"/>
                </a:lnTo>
                <a:lnTo>
                  <a:pt x="657733" y="59944"/>
                </a:lnTo>
                <a:lnTo>
                  <a:pt x="662559" y="58039"/>
                </a:lnTo>
                <a:lnTo>
                  <a:pt x="667258" y="56134"/>
                </a:lnTo>
                <a:lnTo>
                  <a:pt x="675132" y="54991"/>
                </a:lnTo>
                <a:lnTo>
                  <a:pt x="686054" y="54991"/>
                </a:lnTo>
                <a:lnTo>
                  <a:pt x="686054" y="48387"/>
                </a:lnTo>
                <a:lnTo>
                  <a:pt x="677926" y="48387"/>
                </a:lnTo>
                <a:lnTo>
                  <a:pt x="670687" y="48895"/>
                </a:lnTo>
                <a:lnTo>
                  <a:pt x="645160" y="62611"/>
                </a:lnTo>
                <a:lnTo>
                  <a:pt x="645160" y="71755"/>
                </a:lnTo>
                <a:lnTo>
                  <a:pt x="645820" y="74549"/>
                </a:lnTo>
                <a:lnTo>
                  <a:pt x="646010" y="75057"/>
                </a:lnTo>
                <a:lnTo>
                  <a:pt x="647700" y="77470"/>
                </a:lnTo>
                <a:lnTo>
                  <a:pt x="649351" y="80010"/>
                </a:lnTo>
                <a:lnTo>
                  <a:pt x="651637" y="82042"/>
                </a:lnTo>
                <a:lnTo>
                  <a:pt x="654558" y="83312"/>
                </a:lnTo>
                <a:lnTo>
                  <a:pt x="657352" y="84709"/>
                </a:lnTo>
                <a:lnTo>
                  <a:pt x="660527" y="85344"/>
                </a:lnTo>
                <a:lnTo>
                  <a:pt x="668909" y="85344"/>
                </a:lnTo>
                <a:lnTo>
                  <a:pt x="684187" y="77470"/>
                </a:lnTo>
                <a:lnTo>
                  <a:pt x="686308" y="75057"/>
                </a:lnTo>
                <a:lnTo>
                  <a:pt x="686384" y="76454"/>
                </a:lnTo>
                <a:lnTo>
                  <a:pt x="686473" y="78105"/>
                </a:lnTo>
                <a:lnTo>
                  <a:pt x="686574" y="80010"/>
                </a:lnTo>
                <a:lnTo>
                  <a:pt x="686689" y="82042"/>
                </a:lnTo>
                <a:lnTo>
                  <a:pt x="686816" y="84328"/>
                </a:lnTo>
                <a:lnTo>
                  <a:pt x="696468" y="84328"/>
                </a:lnTo>
                <a:lnTo>
                  <a:pt x="696468" y="75057"/>
                </a:lnTo>
                <a:lnTo>
                  <a:pt x="696468" y="54991"/>
                </a:lnTo>
                <a:close/>
              </a:path>
              <a:path w="736600" h="85725">
                <a:moveTo>
                  <a:pt x="736346" y="75819"/>
                </a:moveTo>
                <a:lnTo>
                  <a:pt x="729869" y="75819"/>
                </a:lnTo>
                <a:lnTo>
                  <a:pt x="727583" y="74803"/>
                </a:lnTo>
                <a:lnTo>
                  <a:pt x="726567" y="72898"/>
                </a:lnTo>
                <a:lnTo>
                  <a:pt x="725551" y="70866"/>
                </a:lnTo>
                <a:lnTo>
                  <a:pt x="725284" y="68834"/>
                </a:lnTo>
                <a:lnTo>
                  <a:pt x="725170" y="1016"/>
                </a:lnTo>
                <a:lnTo>
                  <a:pt x="714883" y="1016"/>
                </a:lnTo>
                <a:lnTo>
                  <a:pt x="714883" y="68834"/>
                </a:lnTo>
                <a:lnTo>
                  <a:pt x="715391" y="72263"/>
                </a:lnTo>
                <a:lnTo>
                  <a:pt x="727964" y="84201"/>
                </a:lnTo>
                <a:lnTo>
                  <a:pt x="736346" y="84201"/>
                </a:lnTo>
                <a:lnTo>
                  <a:pt x="736346" y="75819"/>
                </a:lnTo>
                <a:close/>
              </a:path>
            </a:pathLst>
          </a:custGeom>
          <a:solidFill>
            <a:srgbClr val="FF8B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15942" y="96647"/>
            <a:ext cx="141605" cy="8534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296664" y="96646"/>
            <a:ext cx="736600" cy="85725"/>
          </a:xfrm>
          <a:custGeom>
            <a:avLst/>
            <a:gdLst/>
            <a:ahLst/>
            <a:cxnLst/>
            <a:rect l="l" t="t" r="r" b="b"/>
            <a:pathLst>
              <a:path w="736600" h="85725">
                <a:moveTo>
                  <a:pt x="30810" y="48907"/>
                </a:moveTo>
                <a:lnTo>
                  <a:pt x="0" y="48907"/>
                </a:lnTo>
                <a:lnTo>
                  <a:pt x="0" y="58039"/>
                </a:lnTo>
                <a:lnTo>
                  <a:pt x="30810" y="58039"/>
                </a:lnTo>
                <a:lnTo>
                  <a:pt x="30810" y="48907"/>
                </a:lnTo>
                <a:close/>
              </a:path>
              <a:path w="736600" h="85725">
                <a:moveTo>
                  <a:pt x="143764" y="56134"/>
                </a:moveTo>
                <a:lnTo>
                  <a:pt x="132461" y="56134"/>
                </a:lnTo>
                <a:lnTo>
                  <a:pt x="131826" y="62738"/>
                </a:lnTo>
                <a:lnTo>
                  <a:pt x="129413" y="67818"/>
                </a:lnTo>
                <a:lnTo>
                  <a:pt x="121031" y="74422"/>
                </a:lnTo>
                <a:lnTo>
                  <a:pt x="115138" y="76200"/>
                </a:lnTo>
                <a:lnTo>
                  <a:pt x="102590" y="76200"/>
                </a:lnTo>
                <a:lnTo>
                  <a:pt x="96774" y="74676"/>
                </a:lnTo>
                <a:lnTo>
                  <a:pt x="92583" y="71628"/>
                </a:lnTo>
                <a:lnTo>
                  <a:pt x="88392" y="68707"/>
                </a:lnTo>
                <a:lnTo>
                  <a:pt x="85471" y="64643"/>
                </a:lnTo>
                <a:lnTo>
                  <a:pt x="81661" y="54483"/>
                </a:lnTo>
                <a:lnTo>
                  <a:pt x="80645" y="48895"/>
                </a:lnTo>
                <a:lnTo>
                  <a:pt x="80645" y="36449"/>
                </a:lnTo>
                <a:lnTo>
                  <a:pt x="102108" y="9017"/>
                </a:lnTo>
                <a:lnTo>
                  <a:pt x="112649" y="9017"/>
                </a:lnTo>
                <a:lnTo>
                  <a:pt x="116205" y="9652"/>
                </a:lnTo>
                <a:lnTo>
                  <a:pt x="119634" y="11049"/>
                </a:lnTo>
                <a:lnTo>
                  <a:pt x="122936" y="12319"/>
                </a:lnTo>
                <a:lnTo>
                  <a:pt x="125730" y="14351"/>
                </a:lnTo>
                <a:lnTo>
                  <a:pt x="130302" y="19685"/>
                </a:lnTo>
                <a:lnTo>
                  <a:pt x="131699" y="23114"/>
                </a:lnTo>
                <a:lnTo>
                  <a:pt x="132156" y="26924"/>
                </a:lnTo>
                <a:lnTo>
                  <a:pt x="132207" y="27305"/>
                </a:lnTo>
                <a:lnTo>
                  <a:pt x="143383" y="27305"/>
                </a:lnTo>
                <a:lnTo>
                  <a:pt x="142875" y="21082"/>
                </a:lnTo>
                <a:lnTo>
                  <a:pt x="140843" y="16002"/>
                </a:lnTo>
                <a:lnTo>
                  <a:pt x="137541" y="11938"/>
                </a:lnTo>
                <a:lnTo>
                  <a:pt x="135064" y="9017"/>
                </a:lnTo>
                <a:lnTo>
                  <a:pt x="134112" y="7874"/>
                </a:lnTo>
                <a:lnTo>
                  <a:pt x="129921" y="4953"/>
                </a:lnTo>
                <a:lnTo>
                  <a:pt x="124841" y="2921"/>
                </a:lnTo>
                <a:lnTo>
                  <a:pt x="119888" y="889"/>
                </a:lnTo>
                <a:lnTo>
                  <a:pt x="114427" y="0"/>
                </a:lnTo>
                <a:lnTo>
                  <a:pt x="100203" y="0"/>
                </a:lnTo>
                <a:lnTo>
                  <a:pt x="70612" y="26924"/>
                </a:lnTo>
                <a:lnTo>
                  <a:pt x="69215" y="34290"/>
                </a:lnTo>
                <a:lnTo>
                  <a:pt x="69215" y="51054"/>
                </a:lnTo>
                <a:lnTo>
                  <a:pt x="92964" y="83439"/>
                </a:lnTo>
                <a:lnTo>
                  <a:pt x="100203" y="85344"/>
                </a:lnTo>
                <a:lnTo>
                  <a:pt x="115062" y="85344"/>
                </a:lnTo>
                <a:lnTo>
                  <a:pt x="120650" y="84201"/>
                </a:lnTo>
                <a:lnTo>
                  <a:pt x="125730" y="82042"/>
                </a:lnTo>
                <a:lnTo>
                  <a:pt x="130810" y="80010"/>
                </a:lnTo>
                <a:lnTo>
                  <a:pt x="134874" y="76708"/>
                </a:lnTo>
                <a:lnTo>
                  <a:pt x="135242" y="76200"/>
                </a:lnTo>
                <a:lnTo>
                  <a:pt x="141224" y="68072"/>
                </a:lnTo>
                <a:lnTo>
                  <a:pt x="143129" y="62738"/>
                </a:lnTo>
                <a:lnTo>
                  <a:pt x="143764" y="56134"/>
                </a:lnTo>
                <a:close/>
              </a:path>
              <a:path w="736600" h="85725">
                <a:moveTo>
                  <a:pt x="212598" y="47752"/>
                </a:moveTo>
                <a:lnTo>
                  <a:pt x="211505" y="42291"/>
                </a:lnTo>
                <a:lnTo>
                  <a:pt x="211455" y="42037"/>
                </a:lnTo>
                <a:lnTo>
                  <a:pt x="209169" y="37465"/>
                </a:lnTo>
                <a:lnTo>
                  <a:pt x="206883" y="32766"/>
                </a:lnTo>
                <a:lnTo>
                  <a:pt x="205346" y="31115"/>
                </a:lnTo>
                <a:lnTo>
                  <a:pt x="203581" y="29210"/>
                </a:lnTo>
                <a:lnTo>
                  <a:pt x="201930" y="28219"/>
                </a:lnTo>
                <a:lnTo>
                  <a:pt x="201930" y="49784"/>
                </a:lnTo>
                <a:lnTo>
                  <a:pt x="201930" y="58547"/>
                </a:lnTo>
                <a:lnTo>
                  <a:pt x="188341" y="76962"/>
                </a:lnTo>
                <a:lnTo>
                  <a:pt x="179578" y="76962"/>
                </a:lnTo>
                <a:lnTo>
                  <a:pt x="166497" y="58547"/>
                </a:lnTo>
                <a:lnTo>
                  <a:pt x="166497" y="49784"/>
                </a:lnTo>
                <a:lnTo>
                  <a:pt x="179578" y="31115"/>
                </a:lnTo>
                <a:lnTo>
                  <a:pt x="188341" y="31115"/>
                </a:lnTo>
                <a:lnTo>
                  <a:pt x="201930" y="49784"/>
                </a:lnTo>
                <a:lnTo>
                  <a:pt x="201930" y="28219"/>
                </a:lnTo>
                <a:lnTo>
                  <a:pt x="199390" y="26670"/>
                </a:lnTo>
                <a:lnTo>
                  <a:pt x="195072" y="24130"/>
                </a:lnTo>
                <a:lnTo>
                  <a:pt x="189992" y="22860"/>
                </a:lnTo>
                <a:lnTo>
                  <a:pt x="178054" y="22860"/>
                </a:lnTo>
                <a:lnTo>
                  <a:pt x="172974" y="24130"/>
                </a:lnTo>
                <a:lnTo>
                  <a:pt x="164592" y="29210"/>
                </a:lnTo>
                <a:lnTo>
                  <a:pt x="161417" y="32766"/>
                </a:lnTo>
                <a:lnTo>
                  <a:pt x="159258" y="37465"/>
                </a:lnTo>
                <a:lnTo>
                  <a:pt x="156972" y="42037"/>
                </a:lnTo>
                <a:lnTo>
                  <a:pt x="155956" y="47752"/>
                </a:lnTo>
                <a:lnTo>
                  <a:pt x="155956" y="60579"/>
                </a:lnTo>
                <a:lnTo>
                  <a:pt x="156921" y="65913"/>
                </a:lnTo>
                <a:lnTo>
                  <a:pt x="156972" y="66167"/>
                </a:lnTo>
                <a:lnTo>
                  <a:pt x="159258" y="70739"/>
                </a:lnTo>
                <a:lnTo>
                  <a:pt x="161417" y="75438"/>
                </a:lnTo>
                <a:lnTo>
                  <a:pt x="164592" y="78994"/>
                </a:lnTo>
                <a:lnTo>
                  <a:pt x="168783" y="81407"/>
                </a:lnTo>
                <a:lnTo>
                  <a:pt x="172974" y="83947"/>
                </a:lnTo>
                <a:lnTo>
                  <a:pt x="178054" y="85217"/>
                </a:lnTo>
                <a:lnTo>
                  <a:pt x="189992" y="85217"/>
                </a:lnTo>
                <a:lnTo>
                  <a:pt x="195072" y="83947"/>
                </a:lnTo>
                <a:lnTo>
                  <a:pt x="199390" y="81407"/>
                </a:lnTo>
                <a:lnTo>
                  <a:pt x="203581" y="78994"/>
                </a:lnTo>
                <a:lnTo>
                  <a:pt x="205460" y="76962"/>
                </a:lnTo>
                <a:lnTo>
                  <a:pt x="206883" y="75438"/>
                </a:lnTo>
                <a:lnTo>
                  <a:pt x="209169" y="70739"/>
                </a:lnTo>
                <a:lnTo>
                  <a:pt x="211455" y="66167"/>
                </a:lnTo>
                <a:lnTo>
                  <a:pt x="212598" y="60579"/>
                </a:lnTo>
                <a:lnTo>
                  <a:pt x="212598" y="47752"/>
                </a:lnTo>
                <a:close/>
              </a:path>
              <a:path w="736600" h="85725">
                <a:moveTo>
                  <a:pt x="279781" y="38354"/>
                </a:moveTo>
                <a:lnTo>
                  <a:pt x="278358" y="33274"/>
                </a:lnTo>
                <a:lnTo>
                  <a:pt x="278257" y="32893"/>
                </a:lnTo>
                <a:lnTo>
                  <a:pt x="277495" y="31877"/>
                </a:lnTo>
                <a:lnTo>
                  <a:pt x="275336" y="28956"/>
                </a:lnTo>
                <a:lnTo>
                  <a:pt x="272288" y="25146"/>
                </a:lnTo>
                <a:lnTo>
                  <a:pt x="267462" y="23241"/>
                </a:lnTo>
                <a:lnTo>
                  <a:pt x="255524" y="23241"/>
                </a:lnTo>
                <a:lnTo>
                  <a:pt x="251079" y="24257"/>
                </a:lnTo>
                <a:lnTo>
                  <a:pt x="244221" y="28575"/>
                </a:lnTo>
                <a:lnTo>
                  <a:pt x="241554" y="30861"/>
                </a:lnTo>
                <a:lnTo>
                  <a:pt x="239649" y="33274"/>
                </a:lnTo>
                <a:lnTo>
                  <a:pt x="239306" y="25146"/>
                </a:lnTo>
                <a:lnTo>
                  <a:pt x="239268" y="24003"/>
                </a:lnTo>
                <a:lnTo>
                  <a:pt x="229362" y="24003"/>
                </a:lnTo>
                <a:lnTo>
                  <a:pt x="229362" y="84201"/>
                </a:lnTo>
                <a:lnTo>
                  <a:pt x="239776" y="84201"/>
                </a:lnTo>
                <a:lnTo>
                  <a:pt x="239776" y="41529"/>
                </a:lnTo>
                <a:lnTo>
                  <a:pt x="241554" y="39116"/>
                </a:lnTo>
                <a:lnTo>
                  <a:pt x="243967" y="36957"/>
                </a:lnTo>
                <a:lnTo>
                  <a:pt x="249478" y="33274"/>
                </a:lnTo>
                <a:lnTo>
                  <a:pt x="250063" y="32893"/>
                </a:lnTo>
                <a:lnTo>
                  <a:pt x="253873" y="31877"/>
                </a:lnTo>
                <a:lnTo>
                  <a:pt x="261366" y="31877"/>
                </a:lnTo>
                <a:lnTo>
                  <a:pt x="269494" y="43942"/>
                </a:lnTo>
                <a:lnTo>
                  <a:pt x="269494" y="84201"/>
                </a:lnTo>
                <a:lnTo>
                  <a:pt x="279781" y="84201"/>
                </a:lnTo>
                <a:lnTo>
                  <a:pt x="279781" y="38354"/>
                </a:lnTo>
                <a:close/>
              </a:path>
              <a:path w="736600" h="85725">
                <a:moveTo>
                  <a:pt x="325882" y="24003"/>
                </a:moveTo>
                <a:lnTo>
                  <a:pt x="311912" y="24003"/>
                </a:lnTo>
                <a:lnTo>
                  <a:pt x="311912" y="17018"/>
                </a:lnTo>
                <a:lnTo>
                  <a:pt x="316611" y="9144"/>
                </a:lnTo>
                <a:lnTo>
                  <a:pt x="325755" y="9144"/>
                </a:lnTo>
                <a:lnTo>
                  <a:pt x="325755" y="1016"/>
                </a:lnTo>
                <a:lnTo>
                  <a:pt x="315849" y="1016"/>
                </a:lnTo>
                <a:lnTo>
                  <a:pt x="312801" y="1524"/>
                </a:lnTo>
                <a:lnTo>
                  <a:pt x="301625" y="24003"/>
                </a:lnTo>
                <a:lnTo>
                  <a:pt x="291592" y="24003"/>
                </a:lnTo>
                <a:lnTo>
                  <a:pt x="291592" y="32385"/>
                </a:lnTo>
                <a:lnTo>
                  <a:pt x="301625" y="32385"/>
                </a:lnTo>
                <a:lnTo>
                  <a:pt x="301625" y="84201"/>
                </a:lnTo>
                <a:lnTo>
                  <a:pt x="311912" y="84201"/>
                </a:lnTo>
                <a:lnTo>
                  <a:pt x="311912" y="32385"/>
                </a:lnTo>
                <a:lnTo>
                  <a:pt x="325882" y="32385"/>
                </a:lnTo>
                <a:lnTo>
                  <a:pt x="325882" y="24003"/>
                </a:lnTo>
                <a:close/>
              </a:path>
              <a:path w="736600" h="85725">
                <a:moveTo>
                  <a:pt x="347980" y="24003"/>
                </a:moveTo>
                <a:lnTo>
                  <a:pt x="337566" y="24003"/>
                </a:lnTo>
                <a:lnTo>
                  <a:pt x="337566" y="84201"/>
                </a:lnTo>
                <a:lnTo>
                  <a:pt x="347980" y="84201"/>
                </a:lnTo>
                <a:lnTo>
                  <a:pt x="347980" y="24003"/>
                </a:lnTo>
                <a:close/>
              </a:path>
              <a:path w="736600" h="85725">
                <a:moveTo>
                  <a:pt x="349250" y="5080"/>
                </a:moveTo>
                <a:lnTo>
                  <a:pt x="348615" y="3556"/>
                </a:lnTo>
                <a:lnTo>
                  <a:pt x="347472" y="2413"/>
                </a:lnTo>
                <a:lnTo>
                  <a:pt x="346202" y="1270"/>
                </a:lnTo>
                <a:lnTo>
                  <a:pt x="344678" y="762"/>
                </a:lnTo>
                <a:lnTo>
                  <a:pt x="340741" y="762"/>
                </a:lnTo>
                <a:lnTo>
                  <a:pt x="339217" y="1270"/>
                </a:lnTo>
                <a:lnTo>
                  <a:pt x="336931" y="3556"/>
                </a:lnTo>
                <a:lnTo>
                  <a:pt x="336296" y="5080"/>
                </a:lnTo>
                <a:lnTo>
                  <a:pt x="336296" y="8509"/>
                </a:lnTo>
                <a:lnTo>
                  <a:pt x="336931" y="9906"/>
                </a:lnTo>
                <a:lnTo>
                  <a:pt x="339217" y="12192"/>
                </a:lnTo>
                <a:lnTo>
                  <a:pt x="340741" y="12700"/>
                </a:lnTo>
                <a:lnTo>
                  <a:pt x="344678" y="12700"/>
                </a:lnTo>
                <a:lnTo>
                  <a:pt x="346202" y="12192"/>
                </a:lnTo>
                <a:lnTo>
                  <a:pt x="347472" y="11049"/>
                </a:lnTo>
                <a:lnTo>
                  <a:pt x="348615" y="9906"/>
                </a:lnTo>
                <a:lnTo>
                  <a:pt x="349250" y="8509"/>
                </a:lnTo>
                <a:lnTo>
                  <a:pt x="349250" y="5080"/>
                </a:lnTo>
                <a:close/>
              </a:path>
              <a:path w="736600" h="85725">
                <a:moveTo>
                  <a:pt x="419100" y="1016"/>
                </a:moveTo>
                <a:lnTo>
                  <a:pt x="408813" y="1016"/>
                </a:lnTo>
                <a:lnTo>
                  <a:pt x="408813" y="33401"/>
                </a:lnTo>
                <a:lnTo>
                  <a:pt x="408813" y="43053"/>
                </a:lnTo>
                <a:lnTo>
                  <a:pt x="408813" y="66167"/>
                </a:lnTo>
                <a:lnTo>
                  <a:pt x="407035" y="69088"/>
                </a:lnTo>
                <a:lnTo>
                  <a:pt x="404622" y="71628"/>
                </a:lnTo>
                <a:lnTo>
                  <a:pt x="401701" y="73787"/>
                </a:lnTo>
                <a:lnTo>
                  <a:pt x="398589" y="75946"/>
                </a:lnTo>
                <a:lnTo>
                  <a:pt x="398310" y="75946"/>
                </a:lnTo>
                <a:lnTo>
                  <a:pt x="395097" y="76835"/>
                </a:lnTo>
                <a:lnTo>
                  <a:pt x="385699" y="76835"/>
                </a:lnTo>
                <a:lnTo>
                  <a:pt x="381889" y="74930"/>
                </a:lnTo>
                <a:lnTo>
                  <a:pt x="376555" y="67056"/>
                </a:lnTo>
                <a:lnTo>
                  <a:pt x="375285" y="61341"/>
                </a:lnTo>
                <a:lnTo>
                  <a:pt x="375285" y="46736"/>
                </a:lnTo>
                <a:lnTo>
                  <a:pt x="376618" y="41402"/>
                </a:lnTo>
                <a:lnTo>
                  <a:pt x="376682" y="41148"/>
                </a:lnTo>
                <a:lnTo>
                  <a:pt x="379476" y="37211"/>
                </a:lnTo>
                <a:lnTo>
                  <a:pt x="382270" y="33401"/>
                </a:lnTo>
                <a:lnTo>
                  <a:pt x="386334" y="31369"/>
                </a:lnTo>
                <a:lnTo>
                  <a:pt x="395986" y="31369"/>
                </a:lnTo>
                <a:lnTo>
                  <a:pt x="408813" y="43053"/>
                </a:lnTo>
                <a:lnTo>
                  <a:pt x="408813" y="33401"/>
                </a:lnTo>
                <a:lnTo>
                  <a:pt x="407593" y="31369"/>
                </a:lnTo>
                <a:lnTo>
                  <a:pt x="406908" y="30226"/>
                </a:lnTo>
                <a:lnTo>
                  <a:pt x="404368" y="27686"/>
                </a:lnTo>
                <a:lnTo>
                  <a:pt x="398018" y="23876"/>
                </a:lnTo>
                <a:lnTo>
                  <a:pt x="394335" y="22987"/>
                </a:lnTo>
                <a:lnTo>
                  <a:pt x="384810" y="22987"/>
                </a:lnTo>
                <a:lnTo>
                  <a:pt x="380365" y="24130"/>
                </a:lnTo>
                <a:lnTo>
                  <a:pt x="376555" y="26543"/>
                </a:lnTo>
                <a:lnTo>
                  <a:pt x="372872" y="28829"/>
                </a:lnTo>
                <a:lnTo>
                  <a:pt x="369824" y="32258"/>
                </a:lnTo>
                <a:lnTo>
                  <a:pt x="365861" y="41148"/>
                </a:lnTo>
                <a:lnTo>
                  <a:pt x="365760" y="41402"/>
                </a:lnTo>
                <a:lnTo>
                  <a:pt x="364807" y="46736"/>
                </a:lnTo>
                <a:lnTo>
                  <a:pt x="364820" y="61341"/>
                </a:lnTo>
                <a:lnTo>
                  <a:pt x="365569" y="66167"/>
                </a:lnTo>
                <a:lnTo>
                  <a:pt x="365633" y="66548"/>
                </a:lnTo>
                <a:lnTo>
                  <a:pt x="367665" y="71247"/>
                </a:lnTo>
                <a:lnTo>
                  <a:pt x="369570" y="75946"/>
                </a:lnTo>
                <a:lnTo>
                  <a:pt x="372364" y="79502"/>
                </a:lnTo>
                <a:lnTo>
                  <a:pt x="375920" y="81788"/>
                </a:lnTo>
                <a:lnTo>
                  <a:pt x="379476" y="84201"/>
                </a:lnTo>
                <a:lnTo>
                  <a:pt x="383794" y="85344"/>
                </a:lnTo>
                <a:lnTo>
                  <a:pt x="393192" y="85344"/>
                </a:lnTo>
                <a:lnTo>
                  <a:pt x="397256" y="84455"/>
                </a:lnTo>
                <a:lnTo>
                  <a:pt x="400558" y="82550"/>
                </a:lnTo>
                <a:lnTo>
                  <a:pt x="403987" y="80772"/>
                </a:lnTo>
                <a:lnTo>
                  <a:pt x="406654" y="78359"/>
                </a:lnTo>
                <a:lnTo>
                  <a:pt x="407771" y="76835"/>
                </a:lnTo>
                <a:lnTo>
                  <a:pt x="408813" y="75438"/>
                </a:lnTo>
                <a:lnTo>
                  <a:pt x="408901" y="76835"/>
                </a:lnTo>
                <a:lnTo>
                  <a:pt x="409016" y="78359"/>
                </a:lnTo>
                <a:lnTo>
                  <a:pt x="409105" y="79502"/>
                </a:lnTo>
                <a:lnTo>
                  <a:pt x="409194" y="80772"/>
                </a:lnTo>
                <a:lnTo>
                  <a:pt x="409270" y="81788"/>
                </a:lnTo>
                <a:lnTo>
                  <a:pt x="409321" y="82550"/>
                </a:lnTo>
                <a:lnTo>
                  <a:pt x="409448" y="84201"/>
                </a:lnTo>
                <a:lnTo>
                  <a:pt x="419100" y="84201"/>
                </a:lnTo>
                <a:lnTo>
                  <a:pt x="419100" y="75438"/>
                </a:lnTo>
                <a:lnTo>
                  <a:pt x="419100" y="33401"/>
                </a:lnTo>
                <a:lnTo>
                  <a:pt x="419100" y="1016"/>
                </a:lnTo>
                <a:close/>
              </a:path>
              <a:path w="736600" h="85725">
                <a:moveTo>
                  <a:pt x="489839" y="64770"/>
                </a:moveTo>
                <a:lnTo>
                  <a:pt x="479552" y="64770"/>
                </a:lnTo>
                <a:lnTo>
                  <a:pt x="479488" y="66548"/>
                </a:lnTo>
                <a:lnTo>
                  <a:pt x="479361" y="68961"/>
                </a:lnTo>
                <a:lnTo>
                  <a:pt x="478155" y="71882"/>
                </a:lnTo>
                <a:lnTo>
                  <a:pt x="475488" y="74041"/>
                </a:lnTo>
                <a:lnTo>
                  <a:pt x="472948" y="76327"/>
                </a:lnTo>
                <a:lnTo>
                  <a:pt x="469392" y="77343"/>
                </a:lnTo>
                <a:lnTo>
                  <a:pt x="460375" y="77343"/>
                </a:lnTo>
                <a:lnTo>
                  <a:pt x="448564" y="66548"/>
                </a:lnTo>
                <a:lnTo>
                  <a:pt x="447294" y="63246"/>
                </a:lnTo>
                <a:lnTo>
                  <a:pt x="446722" y="60071"/>
                </a:lnTo>
                <a:lnTo>
                  <a:pt x="446659" y="55753"/>
                </a:lnTo>
                <a:lnTo>
                  <a:pt x="489458" y="55753"/>
                </a:lnTo>
                <a:lnTo>
                  <a:pt x="489585" y="55372"/>
                </a:lnTo>
                <a:lnTo>
                  <a:pt x="489648" y="48133"/>
                </a:lnTo>
                <a:lnTo>
                  <a:pt x="489699" y="42545"/>
                </a:lnTo>
                <a:lnTo>
                  <a:pt x="488403" y="38354"/>
                </a:lnTo>
                <a:lnTo>
                  <a:pt x="487426" y="35306"/>
                </a:lnTo>
                <a:lnTo>
                  <a:pt x="483209" y="30861"/>
                </a:lnTo>
                <a:lnTo>
                  <a:pt x="479552" y="27012"/>
                </a:lnTo>
                <a:lnTo>
                  <a:pt x="479552" y="48133"/>
                </a:lnTo>
                <a:lnTo>
                  <a:pt x="446659" y="48133"/>
                </a:lnTo>
                <a:lnTo>
                  <a:pt x="458470" y="30861"/>
                </a:lnTo>
                <a:lnTo>
                  <a:pt x="468503" y="30861"/>
                </a:lnTo>
                <a:lnTo>
                  <a:pt x="479552" y="48133"/>
                </a:lnTo>
                <a:lnTo>
                  <a:pt x="479552" y="27012"/>
                </a:lnTo>
                <a:lnTo>
                  <a:pt x="478155" y="25527"/>
                </a:lnTo>
                <a:lnTo>
                  <a:pt x="471678" y="22987"/>
                </a:lnTo>
                <a:lnTo>
                  <a:pt x="457327" y="22987"/>
                </a:lnTo>
                <a:lnTo>
                  <a:pt x="439293" y="37846"/>
                </a:lnTo>
                <a:lnTo>
                  <a:pt x="437261" y="42545"/>
                </a:lnTo>
                <a:lnTo>
                  <a:pt x="436372" y="48133"/>
                </a:lnTo>
                <a:lnTo>
                  <a:pt x="436372" y="60071"/>
                </a:lnTo>
                <a:lnTo>
                  <a:pt x="437172" y="64770"/>
                </a:lnTo>
                <a:lnTo>
                  <a:pt x="437261" y="65278"/>
                </a:lnTo>
                <a:lnTo>
                  <a:pt x="439178" y="69723"/>
                </a:lnTo>
                <a:lnTo>
                  <a:pt x="441325" y="74803"/>
                </a:lnTo>
                <a:lnTo>
                  <a:pt x="444500" y="78486"/>
                </a:lnTo>
                <a:lnTo>
                  <a:pt x="448691" y="81153"/>
                </a:lnTo>
                <a:lnTo>
                  <a:pt x="452755" y="83947"/>
                </a:lnTo>
                <a:lnTo>
                  <a:pt x="458216" y="85344"/>
                </a:lnTo>
                <a:lnTo>
                  <a:pt x="469773" y="85344"/>
                </a:lnTo>
                <a:lnTo>
                  <a:pt x="474218" y="84455"/>
                </a:lnTo>
                <a:lnTo>
                  <a:pt x="481584" y="81153"/>
                </a:lnTo>
                <a:lnTo>
                  <a:pt x="484505" y="78740"/>
                </a:lnTo>
                <a:lnTo>
                  <a:pt x="485432" y="77343"/>
                </a:lnTo>
                <a:lnTo>
                  <a:pt x="488569" y="72644"/>
                </a:lnTo>
                <a:lnTo>
                  <a:pt x="489712" y="68961"/>
                </a:lnTo>
                <a:lnTo>
                  <a:pt x="489839" y="64770"/>
                </a:lnTo>
                <a:close/>
              </a:path>
              <a:path w="736600" h="85725">
                <a:moveTo>
                  <a:pt x="557149" y="38354"/>
                </a:moveTo>
                <a:lnTo>
                  <a:pt x="555726" y="33274"/>
                </a:lnTo>
                <a:lnTo>
                  <a:pt x="555625" y="32893"/>
                </a:lnTo>
                <a:lnTo>
                  <a:pt x="554863" y="31877"/>
                </a:lnTo>
                <a:lnTo>
                  <a:pt x="552704" y="28956"/>
                </a:lnTo>
                <a:lnTo>
                  <a:pt x="549656" y="25146"/>
                </a:lnTo>
                <a:lnTo>
                  <a:pt x="544830" y="23241"/>
                </a:lnTo>
                <a:lnTo>
                  <a:pt x="532892" y="23241"/>
                </a:lnTo>
                <a:lnTo>
                  <a:pt x="528447" y="24257"/>
                </a:lnTo>
                <a:lnTo>
                  <a:pt x="521589" y="28575"/>
                </a:lnTo>
                <a:lnTo>
                  <a:pt x="518922" y="30861"/>
                </a:lnTo>
                <a:lnTo>
                  <a:pt x="517017" y="33274"/>
                </a:lnTo>
                <a:lnTo>
                  <a:pt x="516674" y="25146"/>
                </a:lnTo>
                <a:lnTo>
                  <a:pt x="516636" y="24003"/>
                </a:lnTo>
                <a:lnTo>
                  <a:pt x="506730" y="24003"/>
                </a:lnTo>
                <a:lnTo>
                  <a:pt x="506730" y="84201"/>
                </a:lnTo>
                <a:lnTo>
                  <a:pt x="517144" y="84201"/>
                </a:lnTo>
                <a:lnTo>
                  <a:pt x="517144" y="41529"/>
                </a:lnTo>
                <a:lnTo>
                  <a:pt x="518922" y="39116"/>
                </a:lnTo>
                <a:lnTo>
                  <a:pt x="521335" y="36957"/>
                </a:lnTo>
                <a:lnTo>
                  <a:pt x="526846" y="33274"/>
                </a:lnTo>
                <a:lnTo>
                  <a:pt x="527431" y="32893"/>
                </a:lnTo>
                <a:lnTo>
                  <a:pt x="531241" y="31877"/>
                </a:lnTo>
                <a:lnTo>
                  <a:pt x="538734" y="31877"/>
                </a:lnTo>
                <a:lnTo>
                  <a:pt x="546862" y="43942"/>
                </a:lnTo>
                <a:lnTo>
                  <a:pt x="546862" y="84201"/>
                </a:lnTo>
                <a:lnTo>
                  <a:pt x="557149" y="84201"/>
                </a:lnTo>
                <a:lnTo>
                  <a:pt x="557149" y="38354"/>
                </a:lnTo>
                <a:close/>
              </a:path>
              <a:path w="736600" h="85725">
                <a:moveTo>
                  <a:pt x="604139" y="75819"/>
                </a:moveTo>
                <a:lnTo>
                  <a:pt x="593979" y="75819"/>
                </a:lnTo>
                <a:lnTo>
                  <a:pt x="591693" y="74803"/>
                </a:lnTo>
                <a:lnTo>
                  <a:pt x="590677" y="72898"/>
                </a:lnTo>
                <a:lnTo>
                  <a:pt x="589661" y="70866"/>
                </a:lnTo>
                <a:lnTo>
                  <a:pt x="589394" y="68834"/>
                </a:lnTo>
                <a:lnTo>
                  <a:pt x="589280" y="32385"/>
                </a:lnTo>
                <a:lnTo>
                  <a:pt x="604012" y="32385"/>
                </a:lnTo>
                <a:lnTo>
                  <a:pt x="604012" y="24003"/>
                </a:lnTo>
                <a:lnTo>
                  <a:pt x="589280" y="24003"/>
                </a:lnTo>
                <a:lnTo>
                  <a:pt x="589280" y="10287"/>
                </a:lnTo>
                <a:lnTo>
                  <a:pt x="578993" y="10287"/>
                </a:lnTo>
                <a:lnTo>
                  <a:pt x="578993" y="24003"/>
                </a:lnTo>
                <a:lnTo>
                  <a:pt x="568960" y="24003"/>
                </a:lnTo>
                <a:lnTo>
                  <a:pt x="568960" y="32385"/>
                </a:lnTo>
                <a:lnTo>
                  <a:pt x="578993" y="32385"/>
                </a:lnTo>
                <a:lnTo>
                  <a:pt x="578993" y="68834"/>
                </a:lnTo>
                <a:lnTo>
                  <a:pt x="579501" y="72263"/>
                </a:lnTo>
                <a:lnTo>
                  <a:pt x="592074" y="84201"/>
                </a:lnTo>
                <a:lnTo>
                  <a:pt x="604139" y="84201"/>
                </a:lnTo>
                <a:lnTo>
                  <a:pt x="604139" y="75819"/>
                </a:lnTo>
                <a:close/>
              </a:path>
              <a:path w="736600" h="85725">
                <a:moveTo>
                  <a:pt x="628396" y="24003"/>
                </a:moveTo>
                <a:lnTo>
                  <a:pt x="617982" y="24003"/>
                </a:lnTo>
                <a:lnTo>
                  <a:pt x="617982" y="84201"/>
                </a:lnTo>
                <a:lnTo>
                  <a:pt x="628396" y="84201"/>
                </a:lnTo>
                <a:lnTo>
                  <a:pt x="628396" y="24003"/>
                </a:lnTo>
                <a:close/>
              </a:path>
              <a:path w="736600" h="85725">
                <a:moveTo>
                  <a:pt x="629666" y="5080"/>
                </a:moveTo>
                <a:lnTo>
                  <a:pt x="629031" y="3556"/>
                </a:lnTo>
                <a:lnTo>
                  <a:pt x="627888" y="2413"/>
                </a:lnTo>
                <a:lnTo>
                  <a:pt x="626618" y="1270"/>
                </a:lnTo>
                <a:lnTo>
                  <a:pt x="625094" y="762"/>
                </a:lnTo>
                <a:lnTo>
                  <a:pt x="621157" y="762"/>
                </a:lnTo>
                <a:lnTo>
                  <a:pt x="619633" y="1270"/>
                </a:lnTo>
                <a:lnTo>
                  <a:pt x="617347" y="3556"/>
                </a:lnTo>
                <a:lnTo>
                  <a:pt x="616712" y="5080"/>
                </a:lnTo>
                <a:lnTo>
                  <a:pt x="616712" y="8509"/>
                </a:lnTo>
                <a:lnTo>
                  <a:pt x="617347" y="9906"/>
                </a:lnTo>
                <a:lnTo>
                  <a:pt x="619633" y="12192"/>
                </a:lnTo>
                <a:lnTo>
                  <a:pt x="621157" y="12700"/>
                </a:lnTo>
                <a:lnTo>
                  <a:pt x="625094" y="12700"/>
                </a:lnTo>
                <a:lnTo>
                  <a:pt x="626618" y="12192"/>
                </a:lnTo>
                <a:lnTo>
                  <a:pt x="627888" y="11049"/>
                </a:lnTo>
                <a:lnTo>
                  <a:pt x="629031" y="9906"/>
                </a:lnTo>
                <a:lnTo>
                  <a:pt x="629666" y="8509"/>
                </a:lnTo>
                <a:lnTo>
                  <a:pt x="629666" y="5080"/>
                </a:lnTo>
                <a:close/>
              </a:path>
              <a:path w="736600" h="85725">
                <a:moveTo>
                  <a:pt x="696468" y="54991"/>
                </a:moveTo>
                <a:lnTo>
                  <a:pt x="681482" y="23876"/>
                </a:lnTo>
                <a:lnTo>
                  <a:pt x="678688" y="23241"/>
                </a:lnTo>
                <a:lnTo>
                  <a:pt x="675767" y="22987"/>
                </a:lnTo>
                <a:lnTo>
                  <a:pt x="667893" y="22987"/>
                </a:lnTo>
                <a:lnTo>
                  <a:pt x="662851" y="23876"/>
                </a:lnTo>
                <a:lnTo>
                  <a:pt x="663232" y="23876"/>
                </a:lnTo>
                <a:lnTo>
                  <a:pt x="659892" y="25146"/>
                </a:lnTo>
                <a:lnTo>
                  <a:pt x="647827" y="38989"/>
                </a:lnTo>
                <a:lnTo>
                  <a:pt x="647827" y="43688"/>
                </a:lnTo>
                <a:lnTo>
                  <a:pt x="657860" y="43688"/>
                </a:lnTo>
                <a:lnTo>
                  <a:pt x="657961" y="38989"/>
                </a:lnTo>
                <a:lnTo>
                  <a:pt x="659142" y="36195"/>
                </a:lnTo>
                <a:lnTo>
                  <a:pt x="659257" y="35941"/>
                </a:lnTo>
                <a:lnTo>
                  <a:pt x="662178" y="33782"/>
                </a:lnTo>
                <a:lnTo>
                  <a:pt x="664972" y="31750"/>
                </a:lnTo>
                <a:lnTo>
                  <a:pt x="668528" y="30607"/>
                </a:lnTo>
                <a:lnTo>
                  <a:pt x="676529" y="30607"/>
                </a:lnTo>
                <a:lnTo>
                  <a:pt x="680237" y="31750"/>
                </a:lnTo>
                <a:lnTo>
                  <a:pt x="679996" y="31750"/>
                </a:lnTo>
                <a:lnTo>
                  <a:pt x="684911" y="35433"/>
                </a:lnTo>
                <a:lnTo>
                  <a:pt x="686181" y="38989"/>
                </a:lnTo>
                <a:lnTo>
                  <a:pt x="686181" y="48387"/>
                </a:lnTo>
                <a:lnTo>
                  <a:pt x="686054" y="48387"/>
                </a:lnTo>
                <a:lnTo>
                  <a:pt x="686054" y="54991"/>
                </a:lnTo>
                <a:lnTo>
                  <a:pt x="686054" y="67183"/>
                </a:lnTo>
                <a:lnTo>
                  <a:pt x="683895" y="70104"/>
                </a:lnTo>
                <a:lnTo>
                  <a:pt x="681101" y="72517"/>
                </a:lnTo>
                <a:lnTo>
                  <a:pt x="677799" y="74549"/>
                </a:lnTo>
                <a:lnTo>
                  <a:pt x="674497" y="76454"/>
                </a:lnTo>
                <a:lnTo>
                  <a:pt x="670814" y="77470"/>
                </a:lnTo>
                <a:lnTo>
                  <a:pt x="663067" y="77470"/>
                </a:lnTo>
                <a:lnTo>
                  <a:pt x="660146" y="76454"/>
                </a:lnTo>
                <a:lnTo>
                  <a:pt x="656336" y="72898"/>
                </a:lnTo>
                <a:lnTo>
                  <a:pt x="655447" y="70485"/>
                </a:lnTo>
                <a:lnTo>
                  <a:pt x="655447" y="63119"/>
                </a:lnTo>
                <a:lnTo>
                  <a:pt x="657733" y="59944"/>
                </a:lnTo>
                <a:lnTo>
                  <a:pt x="662559" y="58039"/>
                </a:lnTo>
                <a:lnTo>
                  <a:pt x="667258" y="56134"/>
                </a:lnTo>
                <a:lnTo>
                  <a:pt x="675132" y="54991"/>
                </a:lnTo>
                <a:lnTo>
                  <a:pt x="686054" y="54991"/>
                </a:lnTo>
                <a:lnTo>
                  <a:pt x="686054" y="48387"/>
                </a:lnTo>
                <a:lnTo>
                  <a:pt x="677926" y="48387"/>
                </a:lnTo>
                <a:lnTo>
                  <a:pt x="670687" y="48895"/>
                </a:lnTo>
                <a:lnTo>
                  <a:pt x="645160" y="62611"/>
                </a:lnTo>
                <a:lnTo>
                  <a:pt x="645160" y="71755"/>
                </a:lnTo>
                <a:lnTo>
                  <a:pt x="645820" y="74549"/>
                </a:lnTo>
                <a:lnTo>
                  <a:pt x="646010" y="75057"/>
                </a:lnTo>
                <a:lnTo>
                  <a:pt x="647700" y="77470"/>
                </a:lnTo>
                <a:lnTo>
                  <a:pt x="649351" y="80010"/>
                </a:lnTo>
                <a:lnTo>
                  <a:pt x="651637" y="82042"/>
                </a:lnTo>
                <a:lnTo>
                  <a:pt x="654558" y="83312"/>
                </a:lnTo>
                <a:lnTo>
                  <a:pt x="657352" y="84709"/>
                </a:lnTo>
                <a:lnTo>
                  <a:pt x="660527" y="85344"/>
                </a:lnTo>
                <a:lnTo>
                  <a:pt x="668909" y="85344"/>
                </a:lnTo>
                <a:lnTo>
                  <a:pt x="684187" y="77470"/>
                </a:lnTo>
                <a:lnTo>
                  <a:pt x="686308" y="75057"/>
                </a:lnTo>
                <a:lnTo>
                  <a:pt x="686384" y="76454"/>
                </a:lnTo>
                <a:lnTo>
                  <a:pt x="686473" y="78105"/>
                </a:lnTo>
                <a:lnTo>
                  <a:pt x="686574" y="80010"/>
                </a:lnTo>
                <a:lnTo>
                  <a:pt x="686689" y="82042"/>
                </a:lnTo>
                <a:lnTo>
                  <a:pt x="686816" y="84328"/>
                </a:lnTo>
                <a:lnTo>
                  <a:pt x="696468" y="84328"/>
                </a:lnTo>
                <a:lnTo>
                  <a:pt x="696468" y="75057"/>
                </a:lnTo>
                <a:lnTo>
                  <a:pt x="696468" y="54991"/>
                </a:lnTo>
                <a:close/>
              </a:path>
              <a:path w="736600" h="85725">
                <a:moveTo>
                  <a:pt x="736346" y="75819"/>
                </a:moveTo>
                <a:lnTo>
                  <a:pt x="729869" y="75819"/>
                </a:lnTo>
                <a:lnTo>
                  <a:pt x="727583" y="74803"/>
                </a:lnTo>
                <a:lnTo>
                  <a:pt x="726567" y="72898"/>
                </a:lnTo>
                <a:lnTo>
                  <a:pt x="725551" y="70866"/>
                </a:lnTo>
                <a:lnTo>
                  <a:pt x="725284" y="68834"/>
                </a:lnTo>
                <a:lnTo>
                  <a:pt x="725170" y="1016"/>
                </a:lnTo>
                <a:lnTo>
                  <a:pt x="714883" y="1016"/>
                </a:lnTo>
                <a:lnTo>
                  <a:pt x="714883" y="68834"/>
                </a:lnTo>
                <a:lnTo>
                  <a:pt x="715391" y="72263"/>
                </a:lnTo>
                <a:lnTo>
                  <a:pt x="727964" y="84201"/>
                </a:lnTo>
                <a:lnTo>
                  <a:pt x="736346" y="84201"/>
                </a:lnTo>
                <a:lnTo>
                  <a:pt x="736346" y="75819"/>
                </a:lnTo>
                <a:close/>
              </a:path>
            </a:pathLst>
          </a:custGeom>
          <a:solidFill>
            <a:srgbClr val="FF8B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554863"/>
            <a:ext cx="1676450" cy="232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Framexexexe 232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88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67055" y="3210001"/>
            <a:ext cx="7838745" cy="161775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1F2729"/>
                </a:solidFill>
                <a:latin typeface="Calibri"/>
                <a:cs typeface="Calibri"/>
              </a:rPr>
              <a:t>Team</a:t>
            </a:r>
            <a:r>
              <a:rPr sz="1350" spc="-7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F2729"/>
                </a:solidFill>
                <a:latin typeface="Calibri"/>
                <a:cs typeface="Calibri"/>
              </a:rPr>
              <a:t>Name</a:t>
            </a:r>
            <a:r>
              <a:rPr sz="1350" spc="-50" dirty="0">
                <a:solidFill>
                  <a:srgbClr val="1F2729"/>
                </a:solidFill>
                <a:latin typeface="Calibri"/>
                <a:cs typeface="Calibri"/>
              </a:rPr>
              <a:t> :</a:t>
            </a:r>
            <a:r>
              <a:rPr lang="en-US" sz="1350" spc="-5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lang="en-US" sz="1350" b="1" spc="-50" dirty="0">
                <a:solidFill>
                  <a:srgbClr val="1F2729"/>
                </a:solidFill>
                <a:latin typeface="Calibri"/>
                <a:cs typeface="Calibri"/>
              </a:rPr>
              <a:t>SMART SUPPLY SQUAD</a:t>
            </a:r>
            <a:endParaRPr sz="1350" b="1" dirty="0">
              <a:latin typeface="Calibri"/>
              <a:cs typeface="Calibri"/>
            </a:endParaRPr>
          </a:p>
          <a:p>
            <a:pPr marL="12700" marR="13970">
              <a:lnSpc>
                <a:spcPts val="2820"/>
              </a:lnSpc>
              <a:spcBef>
                <a:spcPts val="170"/>
              </a:spcBef>
            </a:pPr>
            <a:r>
              <a:rPr sz="1350" dirty="0">
                <a:solidFill>
                  <a:srgbClr val="1F2729"/>
                </a:solidFill>
                <a:latin typeface="Calibri"/>
                <a:cs typeface="Calibri"/>
              </a:rPr>
              <a:t>Team</a:t>
            </a:r>
            <a:r>
              <a:rPr sz="1350" spc="-6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F2729"/>
                </a:solidFill>
                <a:latin typeface="Calibri"/>
                <a:cs typeface="Calibri"/>
              </a:rPr>
              <a:t>Leader</a:t>
            </a:r>
            <a:r>
              <a:rPr sz="1350" spc="-6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F2729"/>
                </a:solidFill>
                <a:latin typeface="Calibri"/>
                <a:cs typeface="Calibri"/>
              </a:rPr>
              <a:t>Name</a:t>
            </a:r>
            <a:r>
              <a:rPr sz="1350" spc="-3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50" spc="-50" dirty="0">
                <a:solidFill>
                  <a:srgbClr val="1F2729"/>
                </a:solidFill>
                <a:latin typeface="Calibri"/>
                <a:cs typeface="Calibri"/>
              </a:rPr>
              <a:t>: </a:t>
            </a:r>
            <a:r>
              <a:rPr lang="en-US" sz="1350" spc="-50" dirty="0">
                <a:solidFill>
                  <a:srgbClr val="1F2729"/>
                </a:solidFill>
                <a:latin typeface="Calibri"/>
                <a:cs typeface="Calibri"/>
              </a:rPr>
              <a:t> Anil Kumar KUNCHALA</a:t>
            </a:r>
          </a:p>
          <a:p>
            <a:pPr marL="12700" marR="13970">
              <a:lnSpc>
                <a:spcPts val="2820"/>
              </a:lnSpc>
              <a:spcBef>
                <a:spcPts val="170"/>
              </a:spcBef>
            </a:pPr>
            <a:r>
              <a:rPr sz="1350" dirty="0">
                <a:solidFill>
                  <a:srgbClr val="1F2729"/>
                </a:solidFill>
                <a:latin typeface="Calibri"/>
                <a:cs typeface="Calibri"/>
              </a:rPr>
              <a:t>Team</a:t>
            </a:r>
            <a:r>
              <a:rPr sz="1350" spc="-7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F2729"/>
                </a:solidFill>
                <a:latin typeface="Calibri"/>
                <a:cs typeface="Calibri"/>
              </a:rPr>
              <a:t>Size</a:t>
            </a:r>
            <a:r>
              <a:rPr sz="1350" spc="-6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50" spc="-50" dirty="0">
                <a:solidFill>
                  <a:srgbClr val="1F2729"/>
                </a:solidFill>
                <a:latin typeface="Calibri"/>
                <a:cs typeface="Calibri"/>
              </a:rPr>
              <a:t>:</a:t>
            </a:r>
            <a:r>
              <a:rPr lang="en-US" sz="1350" spc="-50" dirty="0">
                <a:solidFill>
                  <a:srgbClr val="1F2729"/>
                </a:solidFill>
                <a:latin typeface="Calibri"/>
                <a:cs typeface="Calibri"/>
              </a:rPr>
              <a:t> 04</a:t>
            </a:r>
            <a:endParaRPr sz="1350" dirty="0">
              <a:latin typeface="Calibri"/>
              <a:cs typeface="Calibri"/>
            </a:endParaRPr>
          </a:p>
          <a:p>
            <a:pPr marL="12700">
              <a:spcBef>
                <a:spcPts val="780"/>
              </a:spcBef>
            </a:pPr>
            <a:r>
              <a:rPr sz="1350" dirty="0">
                <a:solidFill>
                  <a:srgbClr val="1F2729"/>
                </a:solidFill>
                <a:latin typeface="Calibri"/>
                <a:cs typeface="Calibri"/>
              </a:rPr>
              <a:t>Problem</a:t>
            </a:r>
            <a:r>
              <a:rPr sz="1350" spc="-3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F2729"/>
                </a:solidFill>
                <a:latin typeface="Calibri"/>
                <a:cs typeface="Calibri"/>
              </a:rPr>
              <a:t>Statement</a:t>
            </a:r>
            <a:r>
              <a:rPr sz="1350" spc="-6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50" spc="-50" dirty="0">
                <a:solidFill>
                  <a:srgbClr val="1F2729"/>
                </a:solidFill>
                <a:latin typeface="Calibri"/>
                <a:cs typeface="Calibri"/>
              </a:rPr>
              <a:t>:</a:t>
            </a:r>
            <a:r>
              <a:rPr lang="en-US" sz="1350" spc="-5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lang="en-US" sz="1400" dirty="0"/>
              <a:t>Supply Chain Ontology and Governed Conversational Analytics</a:t>
            </a: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endParaRPr sz="13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Framewsxexexe 233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07923" y="659637"/>
            <a:ext cx="5265420" cy="3931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535"/>
              </a:lnSpc>
              <a:spcBef>
                <a:spcPts val="95"/>
              </a:spcBef>
            </a:pPr>
            <a:r>
              <a:rPr sz="1300" b="1" dirty="0">
                <a:solidFill>
                  <a:srgbClr val="1F2729"/>
                </a:solidFill>
                <a:latin typeface="Calibri"/>
                <a:cs typeface="Calibri"/>
              </a:rPr>
              <a:t>Submission</a:t>
            </a:r>
            <a:r>
              <a:rPr sz="1300" b="1" spc="-4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F2729"/>
                </a:solidFill>
                <a:latin typeface="Calibri"/>
                <a:cs typeface="Calibri"/>
              </a:rPr>
              <a:t>Guidelines: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ts val="1295"/>
              </a:lnSpc>
            </a:pPr>
            <a:r>
              <a:rPr sz="1100" b="1" i="1" dirty="0">
                <a:solidFill>
                  <a:srgbClr val="1F2729"/>
                </a:solidFill>
                <a:latin typeface="Calibri"/>
                <a:cs typeface="Calibri"/>
              </a:rPr>
              <a:t>(Things</a:t>
            </a:r>
            <a:r>
              <a:rPr sz="1100" b="1" i="1" spc="-4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100" b="1" i="1" dirty="0">
                <a:solidFill>
                  <a:srgbClr val="1F2729"/>
                </a:solidFill>
                <a:latin typeface="Calibri"/>
                <a:cs typeface="Calibri"/>
              </a:rPr>
              <a:t>to add</a:t>
            </a:r>
            <a:r>
              <a:rPr sz="1100" b="1" i="1" spc="-3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100" b="1" i="1" dirty="0">
                <a:solidFill>
                  <a:srgbClr val="1F2729"/>
                </a:solidFill>
                <a:latin typeface="Calibri"/>
                <a:cs typeface="Calibri"/>
              </a:rPr>
              <a:t>on</a:t>
            </a:r>
            <a:r>
              <a:rPr sz="1100" b="1" i="1" spc="-2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100" b="1" i="1" dirty="0">
                <a:solidFill>
                  <a:srgbClr val="1F2729"/>
                </a:solidFill>
                <a:latin typeface="Calibri"/>
                <a:cs typeface="Calibri"/>
              </a:rPr>
              <a:t>the</a:t>
            </a:r>
            <a:r>
              <a:rPr sz="1100" b="1" i="1" spc="-1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100" b="1" i="1" dirty="0">
                <a:solidFill>
                  <a:srgbClr val="1F2729"/>
                </a:solidFill>
                <a:latin typeface="Calibri"/>
                <a:cs typeface="Calibri"/>
              </a:rPr>
              <a:t>submission</a:t>
            </a:r>
            <a:r>
              <a:rPr sz="1100" b="1" i="1" spc="-3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100" b="1" i="1" spc="-10" dirty="0">
                <a:solidFill>
                  <a:srgbClr val="1F2729"/>
                </a:solidFill>
                <a:latin typeface="Calibri"/>
                <a:cs typeface="Calibri"/>
              </a:rPr>
              <a:t>deck)</a:t>
            </a:r>
            <a:endParaRPr sz="11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spcBef>
                <a:spcPts val="1105"/>
              </a:spcBef>
              <a:buAutoNum type="arabicPeriod"/>
              <a:tabLst>
                <a:tab pos="177800" algn="l"/>
              </a:tabLst>
            </a:pPr>
            <a:r>
              <a:rPr sz="1300" b="1" dirty="0">
                <a:solidFill>
                  <a:srgbClr val="1F2729"/>
                </a:solidFill>
                <a:latin typeface="Calibri"/>
                <a:cs typeface="Calibri"/>
              </a:rPr>
              <a:t>Problem</a:t>
            </a:r>
            <a:r>
              <a:rPr sz="1300" b="1" spc="-1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F2729"/>
                </a:solidFill>
                <a:latin typeface="Calibri"/>
                <a:cs typeface="Calibri"/>
              </a:rPr>
              <a:t>Brief</a:t>
            </a:r>
            <a:endParaRPr sz="1300">
              <a:latin typeface="Calibri"/>
              <a:cs typeface="Calibri"/>
            </a:endParaRPr>
          </a:p>
          <a:p>
            <a:pPr marL="926465" lvl="1" indent="-311785">
              <a:lnSpc>
                <a:spcPts val="1525"/>
              </a:lnSpc>
              <a:spcBef>
                <a:spcPts val="1120"/>
              </a:spcBef>
              <a:buChar char="●"/>
              <a:tabLst>
                <a:tab pos="926465" algn="l"/>
              </a:tabLst>
            </a:pP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What</a:t>
            </a:r>
            <a:r>
              <a:rPr sz="1300" spc="-1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real</a:t>
            </a:r>
            <a:r>
              <a:rPr sz="1300" spc="-3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business problem</a:t>
            </a:r>
            <a:r>
              <a:rPr sz="1300" spc="-2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does</a:t>
            </a:r>
            <a:r>
              <a:rPr sz="1300" spc="-2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this</a:t>
            </a:r>
            <a:r>
              <a:rPr sz="1300" spc="-10" dirty="0">
                <a:solidFill>
                  <a:srgbClr val="1F2729"/>
                </a:solidFill>
                <a:latin typeface="Calibri"/>
                <a:cs typeface="Calibri"/>
              </a:rPr>
              <a:t> solve?</a:t>
            </a:r>
            <a:endParaRPr sz="1300">
              <a:latin typeface="Calibri"/>
              <a:cs typeface="Calibri"/>
            </a:endParaRPr>
          </a:p>
          <a:p>
            <a:pPr marL="926465" lvl="1" indent="-311785">
              <a:lnSpc>
                <a:spcPts val="1485"/>
              </a:lnSpc>
              <a:buChar char="●"/>
              <a:tabLst>
                <a:tab pos="926465" algn="l"/>
              </a:tabLst>
            </a:pP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Who</a:t>
            </a:r>
            <a:r>
              <a:rPr sz="1300" spc="-1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is</a:t>
            </a:r>
            <a:r>
              <a:rPr sz="1300" spc="-1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the</a:t>
            </a:r>
            <a:r>
              <a:rPr sz="1300" spc="-1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target</a:t>
            </a:r>
            <a:r>
              <a:rPr sz="1300" spc="-1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F2729"/>
                </a:solidFill>
                <a:latin typeface="Calibri"/>
                <a:cs typeface="Calibri"/>
              </a:rPr>
              <a:t>user/persona?</a:t>
            </a:r>
            <a:endParaRPr sz="1300">
              <a:latin typeface="Calibri"/>
              <a:cs typeface="Calibri"/>
            </a:endParaRPr>
          </a:p>
          <a:p>
            <a:pPr marL="926465" lvl="1" indent="-311785">
              <a:lnSpc>
                <a:spcPts val="1480"/>
              </a:lnSpc>
              <a:buChar char="●"/>
              <a:tabLst>
                <a:tab pos="926465" algn="l"/>
              </a:tabLst>
            </a:pP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What</a:t>
            </a:r>
            <a:r>
              <a:rPr sz="1300" spc="-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the</a:t>
            </a:r>
            <a:r>
              <a:rPr sz="1300" spc="-1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current</a:t>
            </a:r>
            <a:r>
              <a:rPr sz="1300" spc="-2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pain</a:t>
            </a:r>
            <a:r>
              <a:rPr sz="1300" spc="-1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point</a:t>
            </a:r>
            <a:r>
              <a:rPr sz="1300" spc="-2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and</a:t>
            </a:r>
            <a:r>
              <a:rPr sz="1300" spc="-1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how</a:t>
            </a:r>
            <a:r>
              <a:rPr sz="1300" spc="-1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does</a:t>
            </a:r>
            <a:r>
              <a:rPr sz="1300" spc="-1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this</a:t>
            </a:r>
            <a:r>
              <a:rPr sz="1300" spc="-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improve</a:t>
            </a:r>
            <a:r>
              <a:rPr sz="1300" spc="-25" dirty="0">
                <a:solidFill>
                  <a:srgbClr val="1F2729"/>
                </a:solidFill>
                <a:latin typeface="Calibri"/>
                <a:cs typeface="Calibri"/>
              </a:rPr>
              <a:t> it?</a:t>
            </a:r>
            <a:endParaRPr sz="1300">
              <a:latin typeface="Calibri"/>
              <a:cs typeface="Calibri"/>
            </a:endParaRPr>
          </a:p>
          <a:p>
            <a:pPr marL="926465" lvl="1" indent="-311785">
              <a:lnSpc>
                <a:spcPts val="1525"/>
              </a:lnSpc>
              <a:buChar char="●"/>
              <a:tabLst>
                <a:tab pos="926465" algn="l"/>
              </a:tabLst>
            </a:pPr>
            <a:r>
              <a:rPr sz="1300" spc="-10" dirty="0">
                <a:solidFill>
                  <a:srgbClr val="1F2729"/>
                </a:solidFill>
                <a:latin typeface="Calibri"/>
                <a:cs typeface="Calibri"/>
              </a:rPr>
              <a:t>Industry/domain</a:t>
            </a:r>
            <a:r>
              <a:rPr sz="1300" spc="4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F2729"/>
                </a:solidFill>
                <a:latin typeface="Calibri"/>
                <a:cs typeface="Calibri"/>
              </a:rPr>
              <a:t>context</a:t>
            </a:r>
            <a:endParaRPr sz="13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spcBef>
                <a:spcPts val="1115"/>
              </a:spcBef>
              <a:buAutoNum type="arabicPeriod"/>
              <a:tabLst>
                <a:tab pos="177800" algn="l"/>
              </a:tabLst>
            </a:pPr>
            <a:r>
              <a:rPr sz="1300" b="1" dirty="0">
                <a:solidFill>
                  <a:srgbClr val="1F2729"/>
                </a:solidFill>
                <a:latin typeface="Calibri"/>
                <a:cs typeface="Calibri"/>
              </a:rPr>
              <a:t>Architecture</a:t>
            </a:r>
            <a:r>
              <a:rPr sz="1300" b="1" spc="-5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F2729"/>
                </a:solidFill>
                <a:latin typeface="Calibri"/>
                <a:cs typeface="Calibri"/>
              </a:rPr>
              <a:t>Diagram</a:t>
            </a:r>
            <a:endParaRPr sz="1300">
              <a:latin typeface="Calibri"/>
              <a:cs typeface="Calibri"/>
            </a:endParaRPr>
          </a:p>
          <a:p>
            <a:pPr marL="926465" lvl="1" indent="-311785">
              <a:lnSpc>
                <a:spcPts val="1520"/>
              </a:lnSpc>
              <a:spcBef>
                <a:spcPts val="1130"/>
              </a:spcBef>
              <a:buChar char="●"/>
              <a:tabLst>
                <a:tab pos="926465" algn="l"/>
              </a:tabLst>
            </a:pP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System</a:t>
            </a:r>
            <a:r>
              <a:rPr sz="1300" spc="-2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design</a:t>
            </a:r>
            <a:r>
              <a:rPr sz="1300" spc="-3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showing</a:t>
            </a:r>
            <a:r>
              <a:rPr sz="1300" spc="-1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data</a:t>
            </a:r>
            <a:r>
              <a:rPr sz="1300" spc="-3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1F2729"/>
                </a:solidFill>
                <a:latin typeface="Calibri"/>
                <a:cs typeface="Calibri"/>
              </a:rPr>
              <a:t>flow</a:t>
            </a:r>
            <a:endParaRPr sz="1300">
              <a:latin typeface="Calibri"/>
              <a:cs typeface="Calibri"/>
            </a:endParaRPr>
          </a:p>
          <a:p>
            <a:pPr marL="926465" lvl="1" indent="-311785">
              <a:lnSpc>
                <a:spcPts val="1480"/>
              </a:lnSpc>
              <a:buChar char="●"/>
              <a:tabLst>
                <a:tab pos="926465" algn="l"/>
              </a:tabLst>
            </a:pP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Which</a:t>
            </a:r>
            <a:r>
              <a:rPr sz="1300" spc="-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CoCo</a:t>
            </a:r>
            <a:r>
              <a:rPr sz="1300" spc="-3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CLI</a:t>
            </a:r>
            <a:r>
              <a:rPr sz="1300" spc="-1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skills</a:t>
            </a:r>
            <a:r>
              <a:rPr sz="1300" spc="-1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are</a:t>
            </a:r>
            <a:r>
              <a:rPr sz="1300" spc="-2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used</a:t>
            </a:r>
            <a:r>
              <a:rPr sz="1300" spc="-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and</a:t>
            </a:r>
            <a:r>
              <a:rPr sz="1300" spc="-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how</a:t>
            </a:r>
            <a:r>
              <a:rPr sz="1300" spc="-2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they</a:t>
            </a:r>
            <a:r>
              <a:rPr sz="1300" spc="-2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F2729"/>
                </a:solidFill>
                <a:latin typeface="Calibri"/>
                <a:cs typeface="Calibri"/>
              </a:rPr>
              <a:t>connect</a:t>
            </a:r>
            <a:endParaRPr sz="1300">
              <a:latin typeface="Calibri"/>
              <a:cs typeface="Calibri"/>
            </a:endParaRPr>
          </a:p>
          <a:p>
            <a:pPr marL="926465" lvl="1" indent="-311785">
              <a:lnSpc>
                <a:spcPts val="1480"/>
              </a:lnSpc>
              <a:buChar char="●"/>
              <a:tabLst>
                <a:tab pos="926465" algn="l"/>
              </a:tabLst>
            </a:pP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Data</a:t>
            </a:r>
            <a:r>
              <a:rPr sz="1300" spc="-2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sources</a:t>
            </a:r>
            <a:r>
              <a:rPr sz="1300" spc="-1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F2729"/>
                </a:solidFill>
                <a:latin typeface="Calibri"/>
                <a:cs typeface="Calibri"/>
              </a:rPr>
              <a:t>(structured/unstructured)</a:t>
            </a:r>
            <a:endParaRPr sz="1300">
              <a:latin typeface="Calibri"/>
              <a:cs typeface="Calibri"/>
            </a:endParaRPr>
          </a:p>
          <a:p>
            <a:pPr marL="926465" lvl="1" indent="-311785">
              <a:lnSpc>
                <a:spcPts val="1520"/>
              </a:lnSpc>
              <a:buChar char="●"/>
              <a:tabLst>
                <a:tab pos="926465" algn="l"/>
              </a:tabLst>
            </a:pP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How</a:t>
            </a:r>
            <a:r>
              <a:rPr sz="1300" spc="-4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modular</a:t>
            </a:r>
            <a:r>
              <a:rPr sz="1300" spc="-3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components</a:t>
            </a:r>
            <a:r>
              <a:rPr sz="1300" spc="-1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plug</a:t>
            </a:r>
            <a:r>
              <a:rPr sz="1300" spc="-3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F2729"/>
                </a:solidFill>
                <a:latin typeface="Calibri"/>
                <a:cs typeface="Calibri"/>
              </a:rPr>
              <a:t>together</a:t>
            </a:r>
            <a:endParaRPr sz="13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spcBef>
                <a:spcPts val="1125"/>
              </a:spcBef>
              <a:buAutoNum type="arabicPeriod"/>
              <a:tabLst>
                <a:tab pos="177800" algn="l"/>
              </a:tabLst>
            </a:pPr>
            <a:r>
              <a:rPr sz="1300" b="1" dirty="0">
                <a:solidFill>
                  <a:srgbClr val="1F2729"/>
                </a:solidFill>
                <a:latin typeface="Calibri"/>
                <a:cs typeface="Calibri"/>
              </a:rPr>
              <a:t>Impact</a:t>
            </a:r>
            <a:r>
              <a:rPr sz="1300" b="1" spc="-1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F2729"/>
                </a:solidFill>
                <a:latin typeface="Calibri"/>
                <a:cs typeface="Calibri"/>
              </a:rPr>
              <a:t>Statement</a:t>
            </a:r>
            <a:endParaRPr sz="1300">
              <a:latin typeface="Calibri"/>
              <a:cs typeface="Calibri"/>
            </a:endParaRPr>
          </a:p>
          <a:p>
            <a:pPr marL="926465" lvl="1" indent="-311785">
              <a:lnSpc>
                <a:spcPts val="1525"/>
              </a:lnSpc>
              <a:spcBef>
                <a:spcPts val="1120"/>
              </a:spcBef>
              <a:buChar char="●"/>
              <a:tabLst>
                <a:tab pos="926465" algn="l"/>
              </a:tabLst>
            </a:pP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Measurable</a:t>
            </a:r>
            <a:r>
              <a:rPr sz="1300" spc="-3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outcomes</a:t>
            </a:r>
            <a:r>
              <a:rPr sz="1300" spc="-3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(time</a:t>
            </a:r>
            <a:r>
              <a:rPr sz="1300" spc="-2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saved,</a:t>
            </a:r>
            <a:r>
              <a:rPr sz="1300" spc="-3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accuracy</a:t>
            </a:r>
            <a:r>
              <a:rPr sz="1300" spc="-4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improvement,</a:t>
            </a:r>
            <a:r>
              <a:rPr sz="1300" spc="-3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F2729"/>
                </a:solidFill>
                <a:latin typeface="Calibri"/>
                <a:cs typeface="Calibri"/>
              </a:rPr>
              <a:t>etc.)</a:t>
            </a:r>
            <a:endParaRPr sz="1300">
              <a:latin typeface="Calibri"/>
              <a:cs typeface="Calibri"/>
            </a:endParaRPr>
          </a:p>
          <a:p>
            <a:pPr marL="926465" lvl="1" indent="-311785">
              <a:lnSpc>
                <a:spcPts val="1480"/>
              </a:lnSpc>
              <a:buChar char="●"/>
              <a:tabLst>
                <a:tab pos="926465" algn="l"/>
              </a:tabLst>
            </a:pP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Scalability</a:t>
            </a:r>
            <a:r>
              <a:rPr sz="1300" spc="-3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F2729"/>
                </a:solidFill>
                <a:latin typeface="Calibri"/>
                <a:cs typeface="Calibri"/>
              </a:rPr>
              <a:t>potential</a:t>
            </a:r>
            <a:endParaRPr sz="1300">
              <a:latin typeface="Calibri"/>
              <a:cs typeface="Calibri"/>
            </a:endParaRPr>
          </a:p>
          <a:p>
            <a:pPr marL="926465" lvl="1" indent="-311785">
              <a:lnSpc>
                <a:spcPts val="1520"/>
              </a:lnSpc>
              <a:buChar char="●"/>
              <a:tabLst>
                <a:tab pos="926465" algn="l"/>
              </a:tabLst>
            </a:pP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How</a:t>
            </a:r>
            <a:r>
              <a:rPr sz="1300" spc="-3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this</a:t>
            </a:r>
            <a:r>
              <a:rPr sz="1300" spc="-1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extends</a:t>
            </a:r>
            <a:r>
              <a:rPr sz="1300" spc="-25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beyond</a:t>
            </a:r>
            <a:r>
              <a:rPr sz="1300" spc="-10" dirty="0">
                <a:solidFill>
                  <a:srgbClr val="1F272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F2729"/>
                </a:solidFill>
                <a:latin typeface="Calibri"/>
                <a:cs typeface="Calibri"/>
              </a:rPr>
              <a:t>the</a:t>
            </a:r>
            <a:r>
              <a:rPr sz="1300" spc="-20" dirty="0">
                <a:solidFill>
                  <a:srgbClr val="1F2729"/>
                </a:solidFill>
                <a:latin typeface="Calibri"/>
                <a:cs typeface="Calibri"/>
              </a:rPr>
              <a:t> demo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Framewsxexexe 233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3720" y="588645"/>
            <a:ext cx="6944995" cy="4017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C000"/>
                </a:solidFill>
                <a:latin typeface="Arial"/>
                <a:cs typeface="Arial"/>
              </a:rPr>
              <a:t>Governed</a:t>
            </a:r>
            <a:r>
              <a:rPr sz="1200" b="1" spc="-4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C000"/>
                </a:solidFill>
                <a:latin typeface="Arial"/>
                <a:cs typeface="Arial"/>
              </a:rPr>
              <a:t>Supply</a:t>
            </a:r>
            <a:r>
              <a:rPr sz="1200" b="1" spc="-3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C000"/>
                </a:solidFill>
                <a:latin typeface="Arial"/>
                <a:cs typeface="Arial"/>
              </a:rPr>
              <a:t>Chain</a:t>
            </a:r>
            <a:r>
              <a:rPr sz="1200" b="1" spc="-3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C000"/>
                </a:solidFill>
                <a:latin typeface="Arial"/>
                <a:cs typeface="Arial"/>
              </a:rPr>
              <a:t>Intelligence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200" b="1" dirty="0">
                <a:solidFill>
                  <a:srgbClr val="545454"/>
                </a:solidFill>
                <a:latin typeface="Arial"/>
                <a:cs typeface="Arial"/>
              </a:rPr>
              <a:t>Aerospace</a:t>
            </a:r>
            <a:r>
              <a:rPr sz="1200" b="1" spc="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45454"/>
                </a:solidFill>
                <a:latin typeface="Arial"/>
                <a:cs typeface="Arial"/>
              </a:rPr>
              <a:t>Manufacturing</a:t>
            </a:r>
            <a:r>
              <a:rPr sz="1200" b="1" spc="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45454"/>
                </a:solidFill>
                <a:latin typeface="Arial"/>
                <a:cs typeface="Arial"/>
              </a:rPr>
              <a:t>–</a:t>
            </a:r>
            <a:r>
              <a:rPr sz="1200" b="1" spc="3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545454"/>
                </a:solidFill>
                <a:latin typeface="Arial"/>
                <a:cs typeface="Arial"/>
              </a:rPr>
              <a:t>Ontology-</a:t>
            </a:r>
            <a:r>
              <a:rPr sz="1200" b="1" dirty="0">
                <a:solidFill>
                  <a:srgbClr val="545454"/>
                </a:solidFill>
                <a:latin typeface="Arial"/>
                <a:cs typeface="Arial"/>
              </a:rPr>
              <a:t>Driven</a:t>
            </a:r>
            <a:r>
              <a:rPr sz="1200" b="1" spc="8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45454"/>
                </a:solidFill>
                <a:latin typeface="Arial"/>
                <a:cs typeface="Arial"/>
              </a:rPr>
              <a:t>Conversational</a:t>
            </a:r>
            <a:r>
              <a:rPr sz="1200" b="1" spc="-2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45454"/>
                </a:solidFill>
                <a:latin typeface="Arial"/>
                <a:cs typeface="Arial"/>
              </a:rPr>
              <a:t>Analytics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ts val="1260"/>
              </a:lnSpc>
            </a:pPr>
            <a:r>
              <a:rPr sz="1200" b="1" dirty="0">
                <a:solidFill>
                  <a:srgbClr val="FFC000"/>
                </a:solidFill>
                <a:latin typeface="Arial"/>
                <a:cs typeface="Arial"/>
              </a:rPr>
              <a:t>Problem</a:t>
            </a:r>
            <a:r>
              <a:rPr sz="1200" b="1" spc="-2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C000"/>
                </a:solidFill>
                <a:latin typeface="Arial"/>
                <a:cs typeface="Arial"/>
              </a:rPr>
              <a:t>Brief</a:t>
            </a:r>
            <a:endParaRPr sz="1200">
              <a:latin typeface="Arial"/>
              <a:cs typeface="Arial"/>
            </a:endParaRPr>
          </a:p>
          <a:p>
            <a:pPr marL="6010910">
              <a:lnSpc>
                <a:spcPts val="1260"/>
              </a:lnSpc>
            </a:pPr>
            <a:r>
              <a:rPr sz="1200" b="1" spc="-10" dirty="0">
                <a:solidFill>
                  <a:srgbClr val="0A3C91"/>
                </a:solidFill>
                <a:latin typeface="Arial"/>
                <a:cs typeface="Arial"/>
              </a:rPr>
              <a:t>Target</a:t>
            </a:r>
            <a:r>
              <a:rPr sz="1200" b="1" spc="-65" dirty="0">
                <a:solidFill>
                  <a:srgbClr val="0A3C91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A3C91"/>
                </a:solidFill>
                <a:latin typeface="Arial"/>
                <a:cs typeface="Arial"/>
              </a:rPr>
              <a:t>Users</a:t>
            </a:r>
            <a:endParaRPr sz="1200">
              <a:latin typeface="Arial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300"/>
              </a:spcBef>
            </a:pPr>
            <a:r>
              <a:rPr sz="1200" b="1" dirty="0">
                <a:latin typeface="Arial"/>
                <a:cs typeface="Arial"/>
              </a:rPr>
              <a:t>The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Business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Problem</a:t>
            </a:r>
            <a:endParaRPr sz="1200">
              <a:latin typeface="Arial"/>
              <a:cs typeface="Arial"/>
            </a:endParaRPr>
          </a:p>
          <a:p>
            <a:pPr marL="94615" marR="2854325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Different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teams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calculate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same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metric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differently. </a:t>
            </a:r>
            <a:r>
              <a:rPr sz="1200" dirty="0">
                <a:latin typeface="Arial MT"/>
                <a:cs typeface="Arial MT"/>
              </a:rPr>
              <a:t>Planning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reports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OTD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87%,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Procurement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91%,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and </a:t>
            </a:r>
            <a:r>
              <a:rPr sz="1200" dirty="0">
                <a:latin typeface="Arial MT"/>
                <a:cs typeface="Arial MT"/>
              </a:rPr>
              <a:t>Logistics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84%.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This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metric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chaos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creates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conflicting </a:t>
            </a:r>
            <a:r>
              <a:rPr sz="1200" dirty="0">
                <a:latin typeface="Arial MT"/>
                <a:cs typeface="Arial MT"/>
              </a:rPr>
              <a:t>decisions,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erodes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trust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data,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misallocates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resources.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200">
              <a:latin typeface="Arial MT"/>
              <a:cs typeface="Arial MT"/>
            </a:endParaRPr>
          </a:p>
          <a:p>
            <a:pPr marL="94615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How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This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Solves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It</a:t>
            </a:r>
            <a:endParaRPr sz="1200">
              <a:latin typeface="Arial"/>
              <a:cs typeface="Arial"/>
            </a:endParaRPr>
          </a:p>
          <a:p>
            <a:pPr marL="94615" marR="2760980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A</a:t>
            </a:r>
            <a:r>
              <a:rPr sz="1200" spc="-8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governed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ontology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defines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every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KPI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once.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Dashboards, </a:t>
            </a:r>
            <a:r>
              <a:rPr sz="1200" dirty="0">
                <a:latin typeface="Arial MT"/>
                <a:cs typeface="Arial MT"/>
              </a:rPr>
              <a:t>analytics,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9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AI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responses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same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canonical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formula, </a:t>
            </a:r>
            <a:r>
              <a:rPr sz="1200" dirty="0">
                <a:latin typeface="Arial MT"/>
                <a:cs typeface="Arial MT"/>
              </a:rPr>
              <a:t>ensuring</a:t>
            </a:r>
            <a:r>
              <a:rPr sz="1200" spc="-6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identical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trusted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results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across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teams.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200">
              <a:latin typeface="Arial MT"/>
              <a:cs typeface="Arial MT"/>
            </a:endParaRPr>
          </a:p>
          <a:p>
            <a:pPr marL="94615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Industry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Context</a:t>
            </a:r>
            <a:endParaRPr sz="1200">
              <a:latin typeface="Arial"/>
              <a:cs typeface="Arial"/>
            </a:endParaRPr>
          </a:p>
          <a:p>
            <a:pPr marL="94615" marR="1584325" algn="just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Aerospace</a:t>
            </a:r>
            <a:r>
              <a:rPr sz="1200" spc="-8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supply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chains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operate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under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FAA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compliance,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long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times,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and </a:t>
            </a:r>
            <a:r>
              <a:rPr sz="1200" dirty="0">
                <a:latin typeface="Arial MT"/>
                <a:cs typeface="Arial MT"/>
              </a:rPr>
              <a:t>supplier</a:t>
            </a:r>
            <a:r>
              <a:rPr sz="1200" spc="-6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risk.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Inconsistent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metrics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can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delay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production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lines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worth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millions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per </a:t>
            </a:r>
            <a:r>
              <a:rPr sz="1200" spc="-20" dirty="0">
                <a:latin typeface="Arial MT"/>
                <a:cs typeface="Arial MT"/>
              </a:rPr>
              <a:t>day.</a:t>
            </a:r>
            <a:endParaRPr sz="12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746625" y="1726183"/>
          <a:ext cx="4236720" cy="1899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8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Persona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9525">
                      <a:solidFill>
                        <a:srgbClr val="878787"/>
                      </a:solidFill>
                      <a:prstDash val="solid"/>
                    </a:lnL>
                    <a:lnR w="9525">
                      <a:solidFill>
                        <a:srgbClr val="878787"/>
                      </a:solidFill>
                      <a:prstDash val="solid"/>
                    </a:lnR>
                    <a:lnT w="9525">
                      <a:solidFill>
                        <a:srgbClr val="878787"/>
                      </a:solidFill>
                      <a:prstDash val="solid"/>
                    </a:lnT>
                    <a:lnB w="9525">
                      <a:solidFill>
                        <a:srgbClr val="8787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Pain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Point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9525">
                      <a:solidFill>
                        <a:srgbClr val="878787"/>
                      </a:solidFill>
                      <a:prstDash val="solid"/>
                    </a:lnL>
                    <a:lnR w="9525">
                      <a:solidFill>
                        <a:srgbClr val="878787"/>
                      </a:solidFill>
                      <a:prstDash val="solid"/>
                    </a:lnR>
                    <a:lnT w="9525">
                      <a:solidFill>
                        <a:srgbClr val="878787"/>
                      </a:solidFill>
                      <a:prstDash val="solid"/>
                    </a:lnT>
                    <a:lnB w="9525">
                      <a:solidFill>
                        <a:srgbClr val="8787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VP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Supply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Chain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9525">
                      <a:solidFill>
                        <a:srgbClr val="878787"/>
                      </a:solidFill>
                      <a:prstDash val="solid"/>
                    </a:lnL>
                    <a:lnR w="9525">
                      <a:solidFill>
                        <a:srgbClr val="878787"/>
                      </a:solidFill>
                      <a:prstDash val="solid"/>
                    </a:lnR>
                    <a:lnT w="9525">
                      <a:solidFill>
                        <a:srgbClr val="878787"/>
                      </a:solidFill>
                      <a:prstDash val="solid"/>
                    </a:lnT>
                    <a:lnB w="9525">
                      <a:solidFill>
                        <a:srgbClr val="8787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Single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trusted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answer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unavailable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9525">
                      <a:solidFill>
                        <a:srgbClr val="878787"/>
                      </a:solidFill>
                      <a:prstDash val="solid"/>
                    </a:lnL>
                    <a:lnR w="9525">
                      <a:solidFill>
                        <a:srgbClr val="878787"/>
                      </a:solidFill>
                      <a:prstDash val="solid"/>
                    </a:lnR>
                    <a:lnT w="9525">
                      <a:solidFill>
                        <a:srgbClr val="878787"/>
                      </a:solidFill>
                      <a:prstDash val="solid"/>
                    </a:lnT>
                    <a:lnB w="9525">
                      <a:solidFill>
                        <a:srgbClr val="8787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Procurement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Director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9525">
                      <a:solidFill>
                        <a:srgbClr val="878787"/>
                      </a:solidFill>
                      <a:prstDash val="solid"/>
                    </a:lnL>
                    <a:lnR w="9525">
                      <a:solidFill>
                        <a:srgbClr val="878787"/>
                      </a:solidFill>
                      <a:prstDash val="solid"/>
                    </a:lnR>
                    <a:lnT w="9525">
                      <a:solidFill>
                        <a:srgbClr val="878787"/>
                      </a:solidFill>
                      <a:prstDash val="solid"/>
                    </a:lnT>
                    <a:lnB w="9525">
                      <a:solidFill>
                        <a:srgbClr val="8787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Metrics</a:t>
                      </a:r>
                      <a:r>
                        <a:rPr sz="11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mismatch</a:t>
                      </a:r>
                      <a:r>
                        <a:rPr sz="11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downstream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reports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9525">
                      <a:solidFill>
                        <a:srgbClr val="878787"/>
                      </a:solidFill>
                      <a:prstDash val="solid"/>
                    </a:lnL>
                    <a:lnR w="9525">
                      <a:solidFill>
                        <a:srgbClr val="878787"/>
                      </a:solidFill>
                      <a:prstDash val="solid"/>
                    </a:lnR>
                    <a:lnT w="9525">
                      <a:solidFill>
                        <a:srgbClr val="878787"/>
                      </a:solidFill>
                      <a:prstDash val="solid"/>
                    </a:lnT>
                    <a:lnB w="9525">
                      <a:solidFill>
                        <a:srgbClr val="8787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Operations</a:t>
                      </a:r>
                      <a:r>
                        <a:rPr sz="11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Manager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9525">
                      <a:solidFill>
                        <a:srgbClr val="878787"/>
                      </a:solidFill>
                      <a:prstDash val="solid"/>
                    </a:lnL>
                    <a:lnR w="9525">
                      <a:solidFill>
                        <a:srgbClr val="878787"/>
                      </a:solidFill>
                      <a:prstDash val="solid"/>
                    </a:lnR>
                    <a:lnT w="9525">
                      <a:solidFill>
                        <a:srgbClr val="878787"/>
                      </a:solidFill>
                      <a:prstDash val="solid"/>
                    </a:lnT>
                    <a:lnB w="9525">
                      <a:solidFill>
                        <a:srgbClr val="8787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spent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reconciling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numbers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9525">
                      <a:solidFill>
                        <a:srgbClr val="878787"/>
                      </a:solidFill>
                      <a:prstDash val="solid"/>
                    </a:lnL>
                    <a:lnR w="9525">
                      <a:solidFill>
                        <a:srgbClr val="878787"/>
                      </a:solidFill>
                      <a:prstDash val="solid"/>
                    </a:lnR>
                    <a:lnT w="9525">
                      <a:solidFill>
                        <a:srgbClr val="878787"/>
                      </a:solidFill>
                      <a:prstDash val="solid"/>
                    </a:lnT>
                    <a:lnB w="9525">
                      <a:solidFill>
                        <a:srgbClr val="8787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Quality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Director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9525">
                      <a:solidFill>
                        <a:srgbClr val="878787"/>
                      </a:solidFill>
                      <a:prstDash val="solid"/>
                    </a:lnL>
                    <a:lnR w="9525">
                      <a:solidFill>
                        <a:srgbClr val="878787"/>
                      </a:solidFill>
                      <a:prstDash val="solid"/>
                    </a:lnR>
                    <a:lnT w="9525">
                      <a:solidFill>
                        <a:srgbClr val="878787"/>
                      </a:solidFill>
                      <a:prstDash val="solid"/>
                    </a:lnT>
                    <a:lnB w="9525">
                      <a:solidFill>
                        <a:srgbClr val="8787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Risk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signals</a:t>
                      </a:r>
                      <a:r>
                        <a:rPr sz="11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hidden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silos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9525">
                      <a:solidFill>
                        <a:srgbClr val="878787"/>
                      </a:solidFill>
                      <a:prstDash val="solid"/>
                    </a:lnL>
                    <a:lnR w="9525">
                      <a:solidFill>
                        <a:srgbClr val="878787"/>
                      </a:solidFill>
                      <a:prstDash val="solid"/>
                    </a:lnR>
                    <a:lnT w="9525">
                      <a:solidFill>
                        <a:srgbClr val="878787"/>
                      </a:solidFill>
                      <a:prstDash val="solid"/>
                    </a:lnT>
                    <a:lnB w="9525">
                      <a:solidFill>
                        <a:srgbClr val="8787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12620" y="1191755"/>
            <a:ext cx="5044440" cy="643255"/>
            <a:chOff x="1912620" y="1191755"/>
            <a:chExt cx="5044440" cy="6432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2620" y="1191755"/>
              <a:ext cx="5044439" cy="6431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7212" y="1271003"/>
              <a:ext cx="4713732" cy="52426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59737" y="1215770"/>
              <a:ext cx="4954905" cy="554355"/>
            </a:xfrm>
            <a:custGeom>
              <a:avLst/>
              <a:gdLst/>
              <a:ahLst/>
              <a:cxnLst/>
              <a:rect l="l" t="t" r="r" b="b"/>
              <a:pathLst>
                <a:path w="4954905" h="554355">
                  <a:moveTo>
                    <a:pt x="4862576" y="0"/>
                  </a:moveTo>
                  <a:lnTo>
                    <a:pt x="92329" y="0"/>
                  </a:lnTo>
                  <a:lnTo>
                    <a:pt x="56364" y="7264"/>
                  </a:lnTo>
                  <a:lnTo>
                    <a:pt x="27019" y="27066"/>
                  </a:lnTo>
                  <a:lnTo>
                    <a:pt x="7246" y="56417"/>
                  </a:lnTo>
                  <a:lnTo>
                    <a:pt x="0" y="92328"/>
                  </a:lnTo>
                  <a:lnTo>
                    <a:pt x="0" y="461517"/>
                  </a:lnTo>
                  <a:lnTo>
                    <a:pt x="7246" y="497482"/>
                  </a:lnTo>
                  <a:lnTo>
                    <a:pt x="27019" y="526827"/>
                  </a:lnTo>
                  <a:lnTo>
                    <a:pt x="56364" y="546600"/>
                  </a:lnTo>
                  <a:lnTo>
                    <a:pt x="92329" y="553846"/>
                  </a:lnTo>
                  <a:lnTo>
                    <a:pt x="4862576" y="553846"/>
                  </a:lnTo>
                  <a:lnTo>
                    <a:pt x="4898540" y="546600"/>
                  </a:lnTo>
                  <a:lnTo>
                    <a:pt x="4927885" y="526827"/>
                  </a:lnTo>
                  <a:lnTo>
                    <a:pt x="4947658" y="497482"/>
                  </a:lnTo>
                  <a:lnTo>
                    <a:pt x="4954905" y="461517"/>
                  </a:lnTo>
                  <a:lnTo>
                    <a:pt x="4954905" y="92328"/>
                  </a:lnTo>
                  <a:lnTo>
                    <a:pt x="4947658" y="56417"/>
                  </a:lnTo>
                  <a:lnTo>
                    <a:pt x="4927885" y="27066"/>
                  </a:lnTo>
                  <a:lnTo>
                    <a:pt x="4898540" y="7264"/>
                  </a:lnTo>
                  <a:lnTo>
                    <a:pt x="4862576" y="0"/>
                  </a:lnTo>
                  <a:close/>
                </a:path>
              </a:pathLst>
            </a:custGeom>
            <a:solidFill>
              <a:srgbClr val="1E87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59737" y="1215770"/>
              <a:ext cx="4954905" cy="554355"/>
            </a:xfrm>
            <a:custGeom>
              <a:avLst/>
              <a:gdLst/>
              <a:ahLst/>
              <a:cxnLst/>
              <a:rect l="l" t="t" r="r" b="b"/>
              <a:pathLst>
                <a:path w="4954905" h="554355">
                  <a:moveTo>
                    <a:pt x="0" y="92328"/>
                  </a:moveTo>
                  <a:lnTo>
                    <a:pt x="7246" y="56417"/>
                  </a:lnTo>
                  <a:lnTo>
                    <a:pt x="27019" y="27066"/>
                  </a:lnTo>
                  <a:lnTo>
                    <a:pt x="56364" y="7264"/>
                  </a:lnTo>
                  <a:lnTo>
                    <a:pt x="92329" y="0"/>
                  </a:lnTo>
                  <a:lnTo>
                    <a:pt x="4862576" y="0"/>
                  </a:lnTo>
                  <a:lnTo>
                    <a:pt x="4898540" y="7264"/>
                  </a:lnTo>
                  <a:lnTo>
                    <a:pt x="4927885" y="27066"/>
                  </a:lnTo>
                  <a:lnTo>
                    <a:pt x="4947658" y="56417"/>
                  </a:lnTo>
                  <a:lnTo>
                    <a:pt x="4954905" y="92328"/>
                  </a:lnTo>
                  <a:lnTo>
                    <a:pt x="4954905" y="461517"/>
                  </a:lnTo>
                  <a:lnTo>
                    <a:pt x="4947658" y="497482"/>
                  </a:lnTo>
                  <a:lnTo>
                    <a:pt x="4927885" y="526827"/>
                  </a:lnTo>
                  <a:lnTo>
                    <a:pt x="4898540" y="546600"/>
                  </a:lnTo>
                  <a:lnTo>
                    <a:pt x="4862576" y="553846"/>
                  </a:lnTo>
                  <a:lnTo>
                    <a:pt x="92329" y="553846"/>
                  </a:lnTo>
                  <a:lnTo>
                    <a:pt x="56364" y="546600"/>
                  </a:lnTo>
                  <a:lnTo>
                    <a:pt x="27019" y="526827"/>
                  </a:lnTo>
                  <a:lnTo>
                    <a:pt x="7246" y="497482"/>
                  </a:lnTo>
                  <a:lnTo>
                    <a:pt x="0" y="461517"/>
                  </a:lnTo>
                  <a:lnTo>
                    <a:pt x="0" y="92328"/>
                  </a:lnTo>
                  <a:close/>
                </a:path>
              </a:pathLst>
            </a:custGeom>
            <a:ln w="9524">
              <a:solidFill>
                <a:srgbClr val="29B6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739" y="815466"/>
            <a:ext cx="6604634" cy="847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AFAFAF"/>
                </a:solidFill>
                <a:latin typeface="Arial"/>
                <a:cs typeface="Arial"/>
              </a:rPr>
              <a:t>Three-</a:t>
            </a:r>
            <a:r>
              <a:rPr sz="1200" b="1" dirty="0">
                <a:solidFill>
                  <a:srgbClr val="AFAFAF"/>
                </a:solidFill>
                <a:latin typeface="Arial"/>
                <a:cs typeface="Arial"/>
              </a:rPr>
              <a:t>Tier</a:t>
            </a:r>
            <a:r>
              <a:rPr sz="1200" b="1" spc="-20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AFAFAF"/>
                </a:solidFill>
                <a:latin typeface="Arial"/>
                <a:cs typeface="Arial"/>
              </a:rPr>
              <a:t>Governed</a:t>
            </a:r>
            <a:r>
              <a:rPr sz="1200" b="1" spc="-10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AFAFAF"/>
                </a:solidFill>
                <a:latin typeface="Arial"/>
                <a:cs typeface="Arial"/>
              </a:rPr>
              <a:t>Data</a:t>
            </a:r>
            <a:r>
              <a:rPr sz="1200" b="1" spc="-15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AFAFAF"/>
                </a:solidFill>
                <a:latin typeface="Arial"/>
                <a:cs typeface="Arial"/>
              </a:rPr>
              <a:t>Flow</a:t>
            </a:r>
            <a:r>
              <a:rPr sz="1200" b="1" spc="15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AFAFAF"/>
                </a:solidFill>
                <a:latin typeface="Arial"/>
                <a:cs typeface="Arial"/>
              </a:rPr>
              <a:t>with</a:t>
            </a:r>
            <a:r>
              <a:rPr sz="1200" b="1" spc="-20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AFAFAF"/>
                </a:solidFill>
                <a:latin typeface="Arial"/>
                <a:cs typeface="Arial"/>
              </a:rPr>
              <a:t>Conversational </a:t>
            </a:r>
            <a:r>
              <a:rPr sz="1200" b="1" spc="-25" dirty="0">
                <a:solidFill>
                  <a:srgbClr val="AFAFAF"/>
                </a:solidFill>
                <a:latin typeface="Arial"/>
                <a:cs typeface="Arial"/>
              </a:rPr>
              <a:t>AI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</a:pPr>
            <a:endParaRPr sz="1200">
              <a:latin typeface="Arial"/>
              <a:cs typeface="Arial"/>
            </a:endParaRPr>
          </a:p>
          <a:p>
            <a:pPr marL="2111375" algn="ctr">
              <a:lnSpc>
                <a:spcPct val="100000"/>
              </a:lnSpc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STREAMLIT</a:t>
            </a:r>
            <a:r>
              <a:rPr sz="10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0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SNOWFLAKE</a:t>
            </a:r>
            <a:r>
              <a:rPr sz="10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(14</a:t>
            </a:r>
            <a:r>
              <a:rPr sz="10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Arial"/>
                <a:cs typeface="Arial"/>
              </a:rPr>
              <a:t>Pages)</a:t>
            </a:r>
            <a:endParaRPr sz="1050">
              <a:latin typeface="Arial"/>
              <a:cs typeface="Arial"/>
            </a:endParaRPr>
          </a:p>
          <a:p>
            <a:pPr marL="2109470" algn="ctr">
              <a:lnSpc>
                <a:spcPct val="100000"/>
              </a:lnSpc>
            </a:pPr>
            <a:r>
              <a:rPr sz="1050" dirty="0">
                <a:solidFill>
                  <a:srgbClr val="BADEFA"/>
                </a:solidFill>
                <a:latin typeface="Arial MT"/>
                <a:cs typeface="Arial MT"/>
              </a:rPr>
              <a:t>Executive</a:t>
            </a:r>
            <a:r>
              <a:rPr sz="1050" spc="-40" dirty="0">
                <a:solidFill>
                  <a:srgbClr val="BADEF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BADEFA"/>
                </a:solidFill>
                <a:latin typeface="Arial MT"/>
                <a:cs typeface="Arial MT"/>
              </a:rPr>
              <a:t>|</a:t>
            </a:r>
            <a:r>
              <a:rPr sz="1050" spc="-25" dirty="0">
                <a:solidFill>
                  <a:srgbClr val="BADEF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BADEFA"/>
                </a:solidFill>
                <a:latin typeface="Arial MT"/>
                <a:cs typeface="Arial MT"/>
              </a:rPr>
              <a:t>Governance</a:t>
            </a:r>
            <a:r>
              <a:rPr sz="1050" spc="-30" dirty="0">
                <a:solidFill>
                  <a:srgbClr val="BADEF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BADEFA"/>
                </a:solidFill>
                <a:latin typeface="Arial MT"/>
                <a:cs typeface="Arial MT"/>
              </a:rPr>
              <a:t>|</a:t>
            </a:r>
            <a:r>
              <a:rPr sz="1050" spc="-25" dirty="0">
                <a:solidFill>
                  <a:srgbClr val="BADEF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BADEFA"/>
                </a:solidFill>
                <a:latin typeface="Arial MT"/>
                <a:cs typeface="Arial MT"/>
              </a:rPr>
              <a:t>Risk</a:t>
            </a:r>
            <a:r>
              <a:rPr sz="1050" spc="-35" dirty="0">
                <a:solidFill>
                  <a:srgbClr val="BADEF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BADEFA"/>
                </a:solidFill>
                <a:latin typeface="Arial MT"/>
                <a:cs typeface="Arial MT"/>
              </a:rPr>
              <a:t>Intelligence</a:t>
            </a:r>
            <a:r>
              <a:rPr sz="1050" spc="-35" dirty="0">
                <a:solidFill>
                  <a:srgbClr val="BADEF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BADEFA"/>
                </a:solidFill>
                <a:latin typeface="Arial MT"/>
                <a:cs typeface="Arial MT"/>
              </a:rPr>
              <a:t>|</a:t>
            </a:r>
            <a:r>
              <a:rPr sz="1050" spc="-35" dirty="0">
                <a:solidFill>
                  <a:srgbClr val="BADEF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BADEFA"/>
                </a:solidFill>
                <a:latin typeface="Arial MT"/>
                <a:cs typeface="Arial MT"/>
              </a:rPr>
              <a:t>Conversational</a:t>
            </a:r>
            <a:r>
              <a:rPr sz="1050" spc="-20" dirty="0">
                <a:solidFill>
                  <a:srgbClr val="BADEF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BADEFA"/>
                </a:solidFill>
                <a:latin typeface="Arial MT"/>
                <a:cs typeface="Arial MT"/>
              </a:rPr>
              <a:t>AI</a:t>
            </a:r>
            <a:r>
              <a:rPr sz="1050" spc="-45" dirty="0">
                <a:solidFill>
                  <a:srgbClr val="BADEF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BADEFA"/>
                </a:solidFill>
                <a:latin typeface="Arial MT"/>
                <a:cs typeface="Arial MT"/>
              </a:rPr>
              <a:t>|</a:t>
            </a:r>
            <a:r>
              <a:rPr sz="1050" spc="-25" dirty="0">
                <a:solidFill>
                  <a:srgbClr val="BADEFA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BADEFA"/>
                </a:solidFill>
                <a:latin typeface="Arial MT"/>
                <a:cs typeface="Arial MT"/>
              </a:rPr>
              <a:t>Forecasting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30224" y="1978126"/>
            <a:ext cx="2827020" cy="696595"/>
            <a:chOff x="1030224" y="1978126"/>
            <a:chExt cx="2827020" cy="69659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0224" y="1978126"/>
              <a:ext cx="2827020" cy="69649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4920" y="2019287"/>
              <a:ext cx="2357628" cy="65228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77544" y="2001900"/>
              <a:ext cx="2736850" cy="606425"/>
            </a:xfrm>
            <a:custGeom>
              <a:avLst/>
              <a:gdLst/>
              <a:ahLst/>
              <a:cxnLst/>
              <a:rect l="l" t="t" r="r" b="b"/>
              <a:pathLst>
                <a:path w="2736850" h="606425">
                  <a:moveTo>
                    <a:pt x="2635300" y="0"/>
                  </a:moveTo>
                  <a:lnTo>
                    <a:pt x="101053" y="0"/>
                  </a:lnTo>
                  <a:lnTo>
                    <a:pt x="61722" y="7937"/>
                  </a:lnTo>
                  <a:lnTo>
                    <a:pt x="29600" y="29591"/>
                  </a:lnTo>
                  <a:lnTo>
                    <a:pt x="7942" y="61722"/>
                  </a:lnTo>
                  <a:lnTo>
                    <a:pt x="0" y="101092"/>
                  </a:lnTo>
                  <a:lnTo>
                    <a:pt x="0" y="505206"/>
                  </a:lnTo>
                  <a:lnTo>
                    <a:pt x="7942" y="544522"/>
                  </a:lnTo>
                  <a:lnTo>
                    <a:pt x="29600" y="576659"/>
                  </a:lnTo>
                  <a:lnTo>
                    <a:pt x="61721" y="598342"/>
                  </a:lnTo>
                  <a:lnTo>
                    <a:pt x="101053" y="606298"/>
                  </a:lnTo>
                  <a:lnTo>
                    <a:pt x="2635300" y="606298"/>
                  </a:lnTo>
                  <a:lnTo>
                    <a:pt x="2674670" y="598342"/>
                  </a:lnTo>
                  <a:lnTo>
                    <a:pt x="2706801" y="576659"/>
                  </a:lnTo>
                  <a:lnTo>
                    <a:pt x="2728455" y="544522"/>
                  </a:lnTo>
                  <a:lnTo>
                    <a:pt x="2736392" y="505206"/>
                  </a:lnTo>
                  <a:lnTo>
                    <a:pt x="2736392" y="101092"/>
                  </a:lnTo>
                  <a:lnTo>
                    <a:pt x="2728455" y="61722"/>
                  </a:lnTo>
                  <a:lnTo>
                    <a:pt x="2706801" y="29591"/>
                  </a:lnTo>
                  <a:lnTo>
                    <a:pt x="2674670" y="7937"/>
                  </a:lnTo>
                  <a:lnTo>
                    <a:pt x="263530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77544" y="2001900"/>
              <a:ext cx="2736850" cy="606425"/>
            </a:xfrm>
            <a:custGeom>
              <a:avLst/>
              <a:gdLst/>
              <a:ahLst/>
              <a:cxnLst/>
              <a:rect l="l" t="t" r="r" b="b"/>
              <a:pathLst>
                <a:path w="2736850" h="606425">
                  <a:moveTo>
                    <a:pt x="0" y="101092"/>
                  </a:moveTo>
                  <a:lnTo>
                    <a:pt x="7942" y="61722"/>
                  </a:lnTo>
                  <a:lnTo>
                    <a:pt x="29600" y="29591"/>
                  </a:lnTo>
                  <a:lnTo>
                    <a:pt x="61722" y="7937"/>
                  </a:lnTo>
                  <a:lnTo>
                    <a:pt x="101053" y="0"/>
                  </a:lnTo>
                  <a:lnTo>
                    <a:pt x="2635300" y="0"/>
                  </a:lnTo>
                  <a:lnTo>
                    <a:pt x="2674670" y="7937"/>
                  </a:lnTo>
                  <a:lnTo>
                    <a:pt x="2706801" y="29591"/>
                  </a:lnTo>
                  <a:lnTo>
                    <a:pt x="2728455" y="61722"/>
                  </a:lnTo>
                  <a:lnTo>
                    <a:pt x="2736392" y="101092"/>
                  </a:lnTo>
                  <a:lnTo>
                    <a:pt x="2736392" y="505206"/>
                  </a:lnTo>
                  <a:lnTo>
                    <a:pt x="2728455" y="544522"/>
                  </a:lnTo>
                  <a:lnTo>
                    <a:pt x="2706801" y="576659"/>
                  </a:lnTo>
                  <a:lnTo>
                    <a:pt x="2674670" y="598342"/>
                  </a:lnTo>
                  <a:lnTo>
                    <a:pt x="2635300" y="606298"/>
                  </a:lnTo>
                  <a:lnTo>
                    <a:pt x="101053" y="606298"/>
                  </a:lnTo>
                  <a:lnTo>
                    <a:pt x="61721" y="598342"/>
                  </a:lnTo>
                  <a:lnTo>
                    <a:pt x="29600" y="576659"/>
                  </a:lnTo>
                  <a:lnTo>
                    <a:pt x="7942" y="544522"/>
                  </a:lnTo>
                  <a:lnTo>
                    <a:pt x="0" y="505206"/>
                  </a:lnTo>
                  <a:lnTo>
                    <a:pt x="0" y="101092"/>
                  </a:lnTo>
                  <a:close/>
                </a:path>
              </a:pathLst>
            </a:custGeom>
            <a:ln w="9525">
              <a:solidFill>
                <a:srgbClr val="AB46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370838" y="2060905"/>
            <a:ext cx="215011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SNOWFLAKE</a:t>
            </a:r>
            <a:r>
              <a:rPr sz="1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CORTEX</a:t>
            </a:r>
            <a:r>
              <a:rPr sz="10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COMPLETE</a:t>
            </a:r>
            <a:endParaRPr sz="1000">
              <a:latin typeface="Arial"/>
              <a:cs typeface="Arial"/>
            </a:endParaRPr>
          </a:p>
          <a:p>
            <a:pPr marL="340360" marR="334645" indent="36830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CE92D7"/>
                </a:solidFill>
                <a:latin typeface="Arial MT"/>
                <a:cs typeface="Arial MT"/>
              </a:rPr>
              <a:t>llama3.1-</a:t>
            </a:r>
            <a:r>
              <a:rPr sz="1000" spc="-25" dirty="0">
                <a:solidFill>
                  <a:srgbClr val="CE92D7"/>
                </a:solidFill>
                <a:latin typeface="Arial MT"/>
                <a:cs typeface="Arial MT"/>
              </a:rPr>
              <a:t>70b </a:t>
            </a:r>
            <a:r>
              <a:rPr sz="1000" dirty="0">
                <a:solidFill>
                  <a:srgbClr val="CE92D7"/>
                </a:solidFill>
                <a:latin typeface="Arial MT"/>
                <a:cs typeface="Arial MT"/>
              </a:rPr>
              <a:t>Governed</a:t>
            </a:r>
            <a:r>
              <a:rPr sz="1000" spc="-45" dirty="0">
                <a:solidFill>
                  <a:srgbClr val="CE92D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CE92D7"/>
                </a:solidFill>
                <a:latin typeface="Arial MT"/>
                <a:cs typeface="Arial MT"/>
              </a:rPr>
              <a:t>Prompt</a:t>
            </a:r>
            <a:r>
              <a:rPr sz="1000" spc="-45" dirty="0">
                <a:solidFill>
                  <a:srgbClr val="CE92D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CE92D7"/>
                </a:solidFill>
                <a:latin typeface="Arial MT"/>
                <a:cs typeface="Arial MT"/>
              </a:rPr>
              <a:t>Context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056632" y="1978177"/>
            <a:ext cx="2720340" cy="687705"/>
            <a:chOff x="5056632" y="1978177"/>
            <a:chExt cx="2720340" cy="687705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56632" y="1978177"/>
              <a:ext cx="2720340" cy="6842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87924" y="2013191"/>
              <a:ext cx="1857755" cy="65228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103495" y="2001900"/>
              <a:ext cx="2630805" cy="594995"/>
            </a:xfrm>
            <a:custGeom>
              <a:avLst/>
              <a:gdLst/>
              <a:ahLst/>
              <a:cxnLst/>
              <a:rect l="l" t="t" r="r" b="b"/>
              <a:pathLst>
                <a:path w="2630804" h="594994">
                  <a:moveTo>
                    <a:pt x="2531745" y="0"/>
                  </a:moveTo>
                  <a:lnTo>
                    <a:pt x="99059" y="0"/>
                  </a:lnTo>
                  <a:lnTo>
                    <a:pt x="60489" y="7780"/>
                  </a:lnTo>
                  <a:lnTo>
                    <a:pt x="29003" y="29003"/>
                  </a:lnTo>
                  <a:lnTo>
                    <a:pt x="7780" y="60489"/>
                  </a:lnTo>
                  <a:lnTo>
                    <a:pt x="0" y="99060"/>
                  </a:lnTo>
                  <a:lnTo>
                    <a:pt x="0" y="495426"/>
                  </a:lnTo>
                  <a:lnTo>
                    <a:pt x="7780" y="533997"/>
                  </a:lnTo>
                  <a:lnTo>
                    <a:pt x="29003" y="565483"/>
                  </a:lnTo>
                  <a:lnTo>
                    <a:pt x="60489" y="586706"/>
                  </a:lnTo>
                  <a:lnTo>
                    <a:pt x="99059" y="594487"/>
                  </a:lnTo>
                  <a:lnTo>
                    <a:pt x="2531745" y="594487"/>
                  </a:lnTo>
                  <a:lnTo>
                    <a:pt x="2570315" y="586706"/>
                  </a:lnTo>
                  <a:lnTo>
                    <a:pt x="2601801" y="565483"/>
                  </a:lnTo>
                  <a:lnTo>
                    <a:pt x="2623024" y="533997"/>
                  </a:lnTo>
                  <a:lnTo>
                    <a:pt x="2630804" y="495426"/>
                  </a:lnTo>
                  <a:lnTo>
                    <a:pt x="2630804" y="99060"/>
                  </a:lnTo>
                  <a:lnTo>
                    <a:pt x="2623024" y="60489"/>
                  </a:lnTo>
                  <a:lnTo>
                    <a:pt x="2601801" y="29003"/>
                  </a:lnTo>
                  <a:lnTo>
                    <a:pt x="2570315" y="7780"/>
                  </a:lnTo>
                  <a:lnTo>
                    <a:pt x="2531745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03495" y="2001900"/>
              <a:ext cx="2630805" cy="594995"/>
            </a:xfrm>
            <a:custGeom>
              <a:avLst/>
              <a:gdLst/>
              <a:ahLst/>
              <a:cxnLst/>
              <a:rect l="l" t="t" r="r" b="b"/>
              <a:pathLst>
                <a:path w="2630804" h="594994">
                  <a:moveTo>
                    <a:pt x="0" y="99060"/>
                  </a:moveTo>
                  <a:lnTo>
                    <a:pt x="7780" y="60489"/>
                  </a:lnTo>
                  <a:lnTo>
                    <a:pt x="29003" y="29003"/>
                  </a:lnTo>
                  <a:lnTo>
                    <a:pt x="60489" y="7780"/>
                  </a:lnTo>
                  <a:lnTo>
                    <a:pt x="99059" y="0"/>
                  </a:lnTo>
                  <a:lnTo>
                    <a:pt x="2531745" y="0"/>
                  </a:lnTo>
                  <a:lnTo>
                    <a:pt x="2570315" y="7780"/>
                  </a:lnTo>
                  <a:lnTo>
                    <a:pt x="2601801" y="29003"/>
                  </a:lnTo>
                  <a:lnTo>
                    <a:pt x="2623024" y="60489"/>
                  </a:lnTo>
                  <a:lnTo>
                    <a:pt x="2630804" y="99060"/>
                  </a:lnTo>
                  <a:lnTo>
                    <a:pt x="2630804" y="495426"/>
                  </a:lnTo>
                  <a:lnTo>
                    <a:pt x="2623024" y="533997"/>
                  </a:lnTo>
                  <a:lnTo>
                    <a:pt x="2601801" y="565483"/>
                  </a:lnTo>
                  <a:lnTo>
                    <a:pt x="2570315" y="586706"/>
                  </a:lnTo>
                  <a:lnTo>
                    <a:pt x="2531745" y="594487"/>
                  </a:lnTo>
                  <a:lnTo>
                    <a:pt x="99059" y="594487"/>
                  </a:lnTo>
                  <a:lnTo>
                    <a:pt x="60489" y="586706"/>
                  </a:lnTo>
                  <a:lnTo>
                    <a:pt x="29003" y="565483"/>
                  </a:lnTo>
                  <a:lnTo>
                    <a:pt x="7780" y="533997"/>
                  </a:lnTo>
                  <a:lnTo>
                    <a:pt x="0" y="495426"/>
                  </a:lnTo>
                  <a:lnTo>
                    <a:pt x="0" y="99060"/>
                  </a:lnTo>
                  <a:close/>
                </a:path>
              </a:pathLst>
            </a:custGeom>
            <a:ln w="9525">
              <a:solidFill>
                <a:srgbClr val="66BA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594984" y="2055367"/>
            <a:ext cx="1650364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GOVERNED</a:t>
            </a:r>
            <a:r>
              <a:rPr sz="1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1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QUERIES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000" dirty="0">
                <a:solidFill>
                  <a:srgbClr val="CE92D7"/>
                </a:solidFill>
                <a:latin typeface="Arial MT"/>
                <a:cs typeface="Arial MT"/>
              </a:rPr>
              <a:t>Cached</a:t>
            </a:r>
            <a:r>
              <a:rPr sz="1000" spc="-35" dirty="0">
                <a:solidFill>
                  <a:srgbClr val="CE92D7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CE92D7"/>
                </a:solidFill>
                <a:latin typeface="Arial MT"/>
                <a:cs typeface="Arial MT"/>
              </a:rPr>
              <a:t>5-</a:t>
            </a:r>
            <a:r>
              <a:rPr sz="1000" dirty="0">
                <a:solidFill>
                  <a:srgbClr val="CE92D7"/>
                </a:solidFill>
                <a:latin typeface="Arial MT"/>
                <a:cs typeface="Arial MT"/>
              </a:rPr>
              <a:t>min</a:t>
            </a:r>
            <a:r>
              <a:rPr sz="1000" spc="-15" dirty="0">
                <a:solidFill>
                  <a:srgbClr val="CE92D7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CE92D7"/>
                </a:solidFill>
                <a:latin typeface="Arial MT"/>
                <a:cs typeface="Arial MT"/>
              </a:rPr>
              <a:t>TTL</a:t>
            </a:r>
            <a:endParaRPr sz="1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000" dirty="0">
                <a:solidFill>
                  <a:srgbClr val="CE92D7"/>
                </a:solidFill>
                <a:latin typeface="Arial MT"/>
                <a:cs typeface="Arial MT"/>
              </a:rPr>
              <a:t>Single</a:t>
            </a:r>
            <a:r>
              <a:rPr sz="1000" spc="-50" dirty="0">
                <a:solidFill>
                  <a:srgbClr val="CE92D7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CE92D7"/>
                </a:solidFill>
                <a:latin typeface="Arial MT"/>
                <a:cs typeface="Arial MT"/>
              </a:rPr>
              <a:t>Canonical</a:t>
            </a:r>
            <a:r>
              <a:rPr sz="1000" spc="-50" dirty="0">
                <a:solidFill>
                  <a:srgbClr val="CE92D7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CE92D7"/>
                </a:solidFill>
                <a:latin typeface="Arial MT"/>
                <a:cs typeface="Arial MT"/>
              </a:rPr>
              <a:t>Path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62072" y="2816339"/>
            <a:ext cx="2722245" cy="977265"/>
            <a:chOff x="2862072" y="2816339"/>
            <a:chExt cx="2722245" cy="977265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62072" y="2816339"/>
              <a:ext cx="2721864" cy="94336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29712" y="2816364"/>
              <a:ext cx="2385060" cy="97687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910205" y="2840482"/>
              <a:ext cx="2631440" cy="854075"/>
            </a:xfrm>
            <a:custGeom>
              <a:avLst/>
              <a:gdLst/>
              <a:ahLst/>
              <a:cxnLst/>
              <a:rect l="l" t="t" r="r" b="b"/>
              <a:pathLst>
                <a:path w="2631440" h="854075">
                  <a:moveTo>
                    <a:pt x="2488565" y="0"/>
                  </a:moveTo>
                  <a:lnTo>
                    <a:pt x="142367" y="0"/>
                  </a:lnTo>
                  <a:lnTo>
                    <a:pt x="97373" y="7247"/>
                  </a:lnTo>
                  <a:lnTo>
                    <a:pt x="58292" y="27436"/>
                  </a:lnTo>
                  <a:lnTo>
                    <a:pt x="27472" y="58238"/>
                  </a:lnTo>
                  <a:lnTo>
                    <a:pt x="7259" y="97324"/>
                  </a:lnTo>
                  <a:lnTo>
                    <a:pt x="0" y="142367"/>
                  </a:lnTo>
                  <a:lnTo>
                    <a:pt x="0" y="711708"/>
                  </a:lnTo>
                  <a:lnTo>
                    <a:pt x="7259" y="756701"/>
                  </a:lnTo>
                  <a:lnTo>
                    <a:pt x="27472" y="795782"/>
                  </a:lnTo>
                  <a:lnTo>
                    <a:pt x="58293" y="826602"/>
                  </a:lnTo>
                  <a:lnTo>
                    <a:pt x="97373" y="846815"/>
                  </a:lnTo>
                  <a:lnTo>
                    <a:pt x="142367" y="854075"/>
                  </a:lnTo>
                  <a:lnTo>
                    <a:pt x="2488565" y="854075"/>
                  </a:lnTo>
                  <a:lnTo>
                    <a:pt x="2533558" y="846815"/>
                  </a:lnTo>
                  <a:lnTo>
                    <a:pt x="2572639" y="826602"/>
                  </a:lnTo>
                  <a:lnTo>
                    <a:pt x="2603459" y="795782"/>
                  </a:lnTo>
                  <a:lnTo>
                    <a:pt x="2623672" y="756701"/>
                  </a:lnTo>
                  <a:lnTo>
                    <a:pt x="2630932" y="711708"/>
                  </a:lnTo>
                  <a:lnTo>
                    <a:pt x="2630932" y="142367"/>
                  </a:lnTo>
                  <a:lnTo>
                    <a:pt x="2623672" y="97324"/>
                  </a:lnTo>
                  <a:lnTo>
                    <a:pt x="2603459" y="58238"/>
                  </a:lnTo>
                  <a:lnTo>
                    <a:pt x="2572639" y="27436"/>
                  </a:lnTo>
                  <a:lnTo>
                    <a:pt x="2533558" y="7247"/>
                  </a:lnTo>
                  <a:lnTo>
                    <a:pt x="2488565" y="0"/>
                  </a:lnTo>
                  <a:close/>
                </a:path>
              </a:pathLst>
            </a:custGeom>
            <a:solidFill>
              <a:srgbClr val="2D3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10205" y="2840482"/>
              <a:ext cx="2631440" cy="854075"/>
            </a:xfrm>
            <a:custGeom>
              <a:avLst/>
              <a:gdLst/>
              <a:ahLst/>
              <a:cxnLst/>
              <a:rect l="l" t="t" r="r" b="b"/>
              <a:pathLst>
                <a:path w="2631440" h="854075">
                  <a:moveTo>
                    <a:pt x="0" y="142367"/>
                  </a:moveTo>
                  <a:lnTo>
                    <a:pt x="7259" y="97324"/>
                  </a:lnTo>
                  <a:lnTo>
                    <a:pt x="27472" y="58238"/>
                  </a:lnTo>
                  <a:lnTo>
                    <a:pt x="58292" y="27436"/>
                  </a:lnTo>
                  <a:lnTo>
                    <a:pt x="97373" y="7247"/>
                  </a:lnTo>
                  <a:lnTo>
                    <a:pt x="142367" y="0"/>
                  </a:lnTo>
                  <a:lnTo>
                    <a:pt x="2488565" y="0"/>
                  </a:lnTo>
                  <a:lnTo>
                    <a:pt x="2533558" y="7247"/>
                  </a:lnTo>
                  <a:lnTo>
                    <a:pt x="2572639" y="27436"/>
                  </a:lnTo>
                  <a:lnTo>
                    <a:pt x="2603459" y="58238"/>
                  </a:lnTo>
                  <a:lnTo>
                    <a:pt x="2623672" y="97324"/>
                  </a:lnTo>
                  <a:lnTo>
                    <a:pt x="2630932" y="142367"/>
                  </a:lnTo>
                  <a:lnTo>
                    <a:pt x="2630932" y="711708"/>
                  </a:lnTo>
                  <a:lnTo>
                    <a:pt x="2623672" y="756701"/>
                  </a:lnTo>
                  <a:lnTo>
                    <a:pt x="2603459" y="795782"/>
                  </a:lnTo>
                  <a:lnTo>
                    <a:pt x="2572639" y="826602"/>
                  </a:lnTo>
                  <a:lnTo>
                    <a:pt x="2533558" y="846815"/>
                  </a:lnTo>
                  <a:lnTo>
                    <a:pt x="2488565" y="854075"/>
                  </a:lnTo>
                  <a:lnTo>
                    <a:pt x="142367" y="854075"/>
                  </a:lnTo>
                  <a:lnTo>
                    <a:pt x="97373" y="846815"/>
                  </a:lnTo>
                  <a:lnTo>
                    <a:pt x="58293" y="826602"/>
                  </a:lnTo>
                  <a:lnTo>
                    <a:pt x="27472" y="795782"/>
                  </a:lnTo>
                  <a:lnTo>
                    <a:pt x="7259" y="756701"/>
                  </a:lnTo>
                  <a:lnTo>
                    <a:pt x="0" y="711708"/>
                  </a:lnTo>
                  <a:lnTo>
                    <a:pt x="0" y="142367"/>
                  </a:lnTo>
                  <a:close/>
                </a:path>
              </a:pathLst>
            </a:custGeom>
            <a:ln w="9525">
              <a:solidFill>
                <a:srgbClr val="66BA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136773" y="2862452"/>
            <a:ext cx="2176145" cy="804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66BA6A"/>
                </a:solidFill>
                <a:latin typeface="Arial"/>
                <a:cs typeface="Arial"/>
              </a:rPr>
              <a:t>ANALYTICS</a:t>
            </a:r>
            <a:r>
              <a:rPr sz="1100" b="1" spc="5" dirty="0">
                <a:solidFill>
                  <a:srgbClr val="66BA6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66BA6A"/>
                </a:solidFill>
                <a:latin typeface="Arial"/>
                <a:cs typeface="Arial"/>
              </a:rPr>
              <a:t>LAYER</a:t>
            </a:r>
            <a:endParaRPr sz="1100">
              <a:latin typeface="Arial"/>
              <a:cs typeface="Arial"/>
            </a:endParaRPr>
          </a:p>
          <a:p>
            <a:pPr marL="102235" marR="94615" algn="ctr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AFAFAF"/>
                </a:solidFill>
                <a:latin typeface="Arial MT"/>
                <a:cs typeface="Arial MT"/>
              </a:rPr>
              <a:t>V_METRIC_ALERTS</a:t>
            </a:r>
            <a:r>
              <a:rPr sz="1000" spc="-55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AFAFAF"/>
                </a:solidFill>
                <a:latin typeface="Arial MT"/>
                <a:cs typeface="Arial MT"/>
              </a:rPr>
              <a:t>(RAG</a:t>
            </a:r>
            <a:r>
              <a:rPr sz="1000" spc="-40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AFAFAF"/>
                </a:solidFill>
                <a:latin typeface="Arial MT"/>
                <a:cs typeface="Arial MT"/>
              </a:rPr>
              <a:t>status) EXECUTIVE_KPI_MONTHLY V_DERIVED_SUPPLIER_RISK</a:t>
            </a:r>
            <a:endParaRPr sz="1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AFAFAF"/>
                </a:solidFill>
                <a:latin typeface="Arial MT"/>
                <a:cs typeface="Arial MT"/>
              </a:rPr>
              <a:t>METRIC_THRESHOLDS</a:t>
            </a:r>
            <a:r>
              <a:rPr sz="1000" spc="85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AFAFAF"/>
                </a:solidFill>
                <a:latin typeface="Arial MT"/>
                <a:cs typeface="Arial MT"/>
              </a:rPr>
              <a:t>(centralized)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817108" y="2816339"/>
            <a:ext cx="2807335" cy="977265"/>
            <a:chOff x="5817108" y="2816339"/>
            <a:chExt cx="2807335" cy="977265"/>
          </a:xfrm>
        </p:grpSpPr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17108" y="2816339"/>
              <a:ext cx="2807208" cy="94336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63996" y="2816364"/>
              <a:ext cx="2311907" cy="976871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864479" y="2840482"/>
              <a:ext cx="2717165" cy="854075"/>
            </a:xfrm>
            <a:custGeom>
              <a:avLst/>
              <a:gdLst/>
              <a:ahLst/>
              <a:cxnLst/>
              <a:rect l="l" t="t" r="r" b="b"/>
              <a:pathLst>
                <a:path w="2717165" h="854075">
                  <a:moveTo>
                    <a:pt x="2574417" y="0"/>
                  </a:moveTo>
                  <a:lnTo>
                    <a:pt x="142367" y="0"/>
                  </a:lnTo>
                  <a:lnTo>
                    <a:pt x="97373" y="7247"/>
                  </a:lnTo>
                  <a:lnTo>
                    <a:pt x="58293" y="27436"/>
                  </a:lnTo>
                  <a:lnTo>
                    <a:pt x="27472" y="58238"/>
                  </a:lnTo>
                  <a:lnTo>
                    <a:pt x="7259" y="97324"/>
                  </a:lnTo>
                  <a:lnTo>
                    <a:pt x="0" y="142367"/>
                  </a:lnTo>
                  <a:lnTo>
                    <a:pt x="0" y="711708"/>
                  </a:lnTo>
                  <a:lnTo>
                    <a:pt x="7259" y="756701"/>
                  </a:lnTo>
                  <a:lnTo>
                    <a:pt x="27472" y="795782"/>
                  </a:lnTo>
                  <a:lnTo>
                    <a:pt x="58293" y="826602"/>
                  </a:lnTo>
                  <a:lnTo>
                    <a:pt x="97373" y="846815"/>
                  </a:lnTo>
                  <a:lnTo>
                    <a:pt x="142367" y="854075"/>
                  </a:lnTo>
                  <a:lnTo>
                    <a:pt x="2574417" y="854075"/>
                  </a:lnTo>
                  <a:lnTo>
                    <a:pt x="2619410" y="846815"/>
                  </a:lnTo>
                  <a:lnTo>
                    <a:pt x="2658491" y="826602"/>
                  </a:lnTo>
                  <a:lnTo>
                    <a:pt x="2689311" y="795782"/>
                  </a:lnTo>
                  <a:lnTo>
                    <a:pt x="2709524" y="756701"/>
                  </a:lnTo>
                  <a:lnTo>
                    <a:pt x="2716784" y="711708"/>
                  </a:lnTo>
                  <a:lnTo>
                    <a:pt x="2716784" y="142367"/>
                  </a:lnTo>
                  <a:lnTo>
                    <a:pt x="2709524" y="97324"/>
                  </a:lnTo>
                  <a:lnTo>
                    <a:pt x="2689311" y="58238"/>
                  </a:lnTo>
                  <a:lnTo>
                    <a:pt x="2658491" y="27436"/>
                  </a:lnTo>
                  <a:lnTo>
                    <a:pt x="2619410" y="7247"/>
                  </a:lnTo>
                  <a:lnTo>
                    <a:pt x="2574417" y="0"/>
                  </a:lnTo>
                  <a:close/>
                </a:path>
              </a:pathLst>
            </a:custGeom>
            <a:solidFill>
              <a:srgbClr val="2D3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64479" y="2840482"/>
              <a:ext cx="2717165" cy="854075"/>
            </a:xfrm>
            <a:custGeom>
              <a:avLst/>
              <a:gdLst/>
              <a:ahLst/>
              <a:cxnLst/>
              <a:rect l="l" t="t" r="r" b="b"/>
              <a:pathLst>
                <a:path w="2717165" h="854075">
                  <a:moveTo>
                    <a:pt x="0" y="142367"/>
                  </a:moveTo>
                  <a:lnTo>
                    <a:pt x="7259" y="97324"/>
                  </a:lnTo>
                  <a:lnTo>
                    <a:pt x="27472" y="58238"/>
                  </a:lnTo>
                  <a:lnTo>
                    <a:pt x="58293" y="27436"/>
                  </a:lnTo>
                  <a:lnTo>
                    <a:pt x="97373" y="7247"/>
                  </a:lnTo>
                  <a:lnTo>
                    <a:pt x="142367" y="0"/>
                  </a:lnTo>
                  <a:lnTo>
                    <a:pt x="2574417" y="0"/>
                  </a:lnTo>
                  <a:lnTo>
                    <a:pt x="2619410" y="7247"/>
                  </a:lnTo>
                  <a:lnTo>
                    <a:pt x="2658491" y="27436"/>
                  </a:lnTo>
                  <a:lnTo>
                    <a:pt x="2689311" y="58238"/>
                  </a:lnTo>
                  <a:lnTo>
                    <a:pt x="2709524" y="97324"/>
                  </a:lnTo>
                  <a:lnTo>
                    <a:pt x="2716784" y="142367"/>
                  </a:lnTo>
                  <a:lnTo>
                    <a:pt x="2716784" y="711708"/>
                  </a:lnTo>
                  <a:lnTo>
                    <a:pt x="2709524" y="756701"/>
                  </a:lnTo>
                  <a:lnTo>
                    <a:pt x="2689311" y="795782"/>
                  </a:lnTo>
                  <a:lnTo>
                    <a:pt x="2658491" y="826602"/>
                  </a:lnTo>
                  <a:lnTo>
                    <a:pt x="2619410" y="846815"/>
                  </a:lnTo>
                  <a:lnTo>
                    <a:pt x="2574417" y="854075"/>
                  </a:lnTo>
                  <a:lnTo>
                    <a:pt x="142367" y="854075"/>
                  </a:lnTo>
                  <a:lnTo>
                    <a:pt x="97373" y="846815"/>
                  </a:lnTo>
                  <a:lnTo>
                    <a:pt x="58293" y="826602"/>
                  </a:lnTo>
                  <a:lnTo>
                    <a:pt x="27472" y="795782"/>
                  </a:lnTo>
                  <a:lnTo>
                    <a:pt x="7259" y="756701"/>
                  </a:lnTo>
                  <a:lnTo>
                    <a:pt x="0" y="711708"/>
                  </a:lnTo>
                  <a:lnTo>
                    <a:pt x="0" y="142367"/>
                  </a:lnTo>
                  <a:close/>
                </a:path>
              </a:pathLst>
            </a:custGeom>
            <a:ln w="9525">
              <a:solidFill>
                <a:srgbClr val="FFA7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170803" y="2862452"/>
            <a:ext cx="2103120" cy="804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119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66BA6A"/>
                </a:solidFill>
                <a:latin typeface="Arial"/>
                <a:cs typeface="Arial"/>
              </a:rPr>
              <a:t>RAW</a:t>
            </a:r>
            <a:r>
              <a:rPr sz="1100" b="1" spc="-35" dirty="0">
                <a:solidFill>
                  <a:srgbClr val="66BA6A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66BA6A"/>
                </a:solidFill>
                <a:latin typeface="Arial"/>
                <a:cs typeface="Arial"/>
              </a:rPr>
              <a:t>LAYER</a:t>
            </a:r>
            <a:endParaRPr sz="1100">
              <a:latin typeface="Arial"/>
              <a:cs typeface="Arial"/>
            </a:endParaRPr>
          </a:p>
          <a:p>
            <a:pPr marL="12700" marR="5080" indent="220979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AFAFAF"/>
                </a:solidFill>
                <a:latin typeface="Arial MT"/>
                <a:cs typeface="Arial MT"/>
              </a:rPr>
              <a:t>6</a:t>
            </a:r>
            <a:r>
              <a:rPr sz="1000" spc="-40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AFAFAF"/>
                </a:solidFill>
                <a:latin typeface="Arial MT"/>
                <a:cs typeface="Arial MT"/>
              </a:rPr>
              <a:t>Dimensions:</a:t>
            </a:r>
            <a:r>
              <a:rPr sz="1000" spc="-50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AFAFAF"/>
                </a:solidFill>
                <a:latin typeface="Arial MT"/>
                <a:cs typeface="Arial MT"/>
              </a:rPr>
              <a:t>Supplier,</a:t>
            </a:r>
            <a:r>
              <a:rPr sz="1000" spc="-25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AFAFAF"/>
                </a:solidFill>
                <a:latin typeface="Arial MT"/>
                <a:cs typeface="Arial MT"/>
              </a:rPr>
              <a:t>Part, </a:t>
            </a:r>
            <a:r>
              <a:rPr sz="1000" dirty="0">
                <a:solidFill>
                  <a:srgbClr val="AFAFAF"/>
                </a:solidFill>
                <a:latin typeface="Arial MT"/>
                <a:cs typeface="Arial MT"/>
              </a:rPr>
              <a:t>Plant,</a:t>
            </a:r>
            <a:r>
              <a:rPr sz="1000" spc="-5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AFAFAF"/>
                </a:solidFill>
                <a:latin typeface="Arial MT"/>
                <a:cs typeface="Arial MT"/>
              </a:rPr>
              <a:t>Warehouse,</a:t>
            </a:r>
            <a:r>
              <a:rPr sz="1000" spc="-40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AFAFAF"/>
                </a:solidFill>
                <a:latin typeface="Arial MT"/>
                <a:cs typeface="Arial MT"/>
              </a:rPr>
              <a:t>Customer,</a:t>
            </a:r>
            <a:r>
              <a:rPr sz="1000" spc="-20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AFAFAF"/>
                </a:solidFill>
                <a:latin typeface="Arial MT"/>
                <a:cs typeface="Arial MT"/>
              </a:rPr>
              <a:t>Carrier</a:t>
            </a:r>
            <a:endParaRPr sz="1000">
              <a:latin typeface="Arial MT"/>
              <a:cs typeface="Arial MT"/>
            </a:endParaRPr>
          </a:p>
          <a:p>
            <a:pPr marL="144780">
              <a:lnSpc>
                <a:spcPct val="100000"/>
              </a:lnSpc>
            </a:pPr>
            <a:r>
              <a:rPr sz="1000" dirty="0">
                <a:solidFill>
                  <a:srgbClr val="AFAFAF"/>
                </a:solidFill>
                <a:latin typeface="Arial MT"/>
                <a:cs typeface="Arial MT"/>
              </a:rPr>
              <a:t>8</a:t>
            </a:r>
            <a:r>
              <a:rPr sz="1000" spc="-15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AFAFAF"/>
                </a:solidFill>
                <a:latin typeface="Arial MT"/>
                <a:cs typeface="Arial MT"/>
              </a:rPr>
              <a:t>Facts:</a:t>
            </a:r>
            <a:r>
              <a:rPr sz="1000" spc="-30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AFAFAF"/>
                </a:solidFill>
                <a:latin typeface="Arial MT"/>
                <a:cs typeface="Arial MT"/>
              </a:rPr>
              <a:t>PO,</a:t>
            </a:r>
            <a:r>
              <a:rPr sz="1000" spc="-25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AFAFAF"/>
                </a:solidFill>
                <a:latin typeface="Arial MT"/>
                <a:cs typeface="Arial MT"/>
              </a:rPr>
              <a:t>Sales,</a:t>
            </a:r>
            <a:r>
              <a:rPr sz="1000" spc="-15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AFAFAF"/>
                </a:solidFill>
                <a:latin typeface="Arial MT"/>
                <a:cs typeface="Arial MT"/>
              </a:rPr>
              <a:t>Work</a:t>
            </a:r>
            <a:r>
              <a:rPr sz="1000" spc="-45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AFAFAF"/>
                </a:solidFill>
                <a:latin typeface="Arial MT"/>
                <a:cs typeface="Arial MT"/>
              </a:rPr>
              <a:t>Order,</a:t>
            </a:r>
            <a:endParaRPr sz="1000">
              <a:latin typeface="Arial MT"/>
              <a:cs typeface="Arial MT"/>
            </a:endParaRPr>
          </a:p>
          <a:p>
            <a:pPr marL="13589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AFAFAF"/>
                </a:solidFill>
                <a:latin typeface="Arial MT"/>
                <a:cs typeface="Arial MT"/>
              </a:rPr>
              <a:t>Shipment,</a:t>
            </a:r>
            <a:r>
              <a:rPr sz="1000" spc="-50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AFAFAF"/>
                </a:solidFill>
                <a:latin typeface="Arial MT"/>
                <a:cs typeface="Arial MT"/>
              </a:rPr>
              <a:t>Inventory,</a:t>
            </a:r>
            <a:r>
              <a:rPr sz="1000" spc="-10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AFAFAF"/>
                </a:solidFill>
                <a:latin typeface="Arial MT"/>
                <a:cs typeface="Arial MT"/>
              </a:rPr>
              <a:t>IoT,</a:t>
            </a:r>
            <a:r>
              <a:rPr sz="1000" spc="-45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AFAFAF"/>
                </a:solidFill>
                <a:latin typeface="Arial MT"/>
                <a:cs typeface="Arial MT"/>
              </a:rPr>
              <a:t>Quality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3753" y="3956405"/>
            <a:ext cx="8614410" cy="526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42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29B6F6"/>
                </a:solidFill>
                <a:latin typeface="Arial"/>
                <a:cs typeface="Arial"/>
              </a:rPr>
              <a:t>DATA</a:t>
            </a:r>
            <a:r>
              <a:rPr sz="1100" b="1" spc="15" dirty="0">
                <a:solidFill>
                  <a:srgbClr val="29B6F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9B6F6"/>
                </a:solidFill>
                <a:latin typeface="Arial"/>
                <a:cs typeface="Arial"/>
              </a:rPr>
              <a:t>FLOW:</a:t>
            </a:r>
            <a:r>
              <a:rPr sz="1100" b="1" spc="245" dirty="0">
                <a:solidFill>
                  <a:srgbClr val="29B6F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9B6F6"/>
                </a:solidFill>
                <a:latin typeface="Arial"/>
                <a:cs typeface="Arial"/>
              </a:rPr>
              <a:t>RAW</a:t>
            </a:r>
            <a:r>
              <a:rPr sz="1100" b="1" spc="15" dirty="0">
                <a:solidFill>
                  <a:srgbClr val="29B6F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9B6F6"/>
                </a:solidFill>
                <a:latin typeface="Arial"/>
                <a:cs typeface="Arial"/>
              </a:rPr>
              <a:t>(source</a:t>
            </a:r>
            <a:r>
              <a:rPr sz="1100" b="1" spc="-35" dirty="0">
                <a:solidFill>
                  <a:srgbClr val="29B6F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9B6F6"/>
                </a:solidFill>
                <a:latin typeface="Arial"/>
                <a:cs typeface="Arial"/>
              </a:rPr>
              <a:t>of</a:t>
            </a:r>
            <a:r>
              <a:rPr sz="1100" b="1" spc="-20" dirty="0">
                <a:solidFill>
                  <a:srgbClr val="29B6F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9B6F6"/>
                </a:solidFill>
                <a:latin typeface="Arial"/>
                <a:cs typeface="Arial"/>
              </a:rPr>
              <a:t>truth)</a:t>
            </a:r>
            <a:r>
              <a:rPr sz="1100" b="1" spc="215" dirty="0">
                <a:solidFill>
                  <a:srgbClr val="29B6F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9B6F6"/>
                </a:solidFill>
                <a:latin typeface="Arial"/>
                <a:cs typeface="Arial"/>
              </a:rPr>
              <a:t>--&gt;</a:t>
            </a:r>
            <a:r>
              <a:rPr sz="1100" b="1" spc="235" dirty="0">
                <a:solidFill>
                  <a:srgbClr val="29B6F6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9B6F6"/>
                </a:solidFill>
                <a:latin typeface="Arial"/>
                <a:cs typeface="Arial"/>
              </a:rPr>
              <a:t>ANALYTICS</a:t>
            </a:r>
            <a:r>
              <a:rPr sz="1100" b="1" spc="30" dirty="0">
                <a:solidFill>
                  <a:srgbClr val="29B6F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9B6F6"/>
                </a:solidFill>
                <a:latin typeface="Arial"/>
                <a:cs typeface="Arial"/>
              </a:rPr>
              <a:t>(governed</a:t>
            </a:r>
            <a:r>
              <a:rPr sz="1100" b="1" spc="-15" dirty="0">
                <a:solidFill>
                  <a:srgbClr val="29B6F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9B6F6"/>
                </a:solidFill>
                <a:latin typeface="Arial"/>
                <a:cs typeface="Arial"/>
              </a:rPr>
              <a:t>logic)</a:t>
            </a:r>
            <a:r>
              <a:rPr sz="1100" b="1" spc="245" dirty="0">
                <a:solidFill>
                  <a:srgbClr val="29B6F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9B6F6"/>
                </a:solidFill>
                <a:latin typeface="Arial"/>
                <a:cs typeface="Arial"/>
              </a:rPr>
              <a:t>--&gt;</a:t>
            </a:r>
            <a:r>
              <a:rPr sz="1100" b="1" spc="235" dirty="0">
                <a:solidFill>
                  <a:srgbClr val="29B6F6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9B6F6"/>
                </a:solidFill>
                <a:latin typeface="Arial"/>
                <a:cs typeface="Arial"/>
              </a:rPr>
              <a:t>SEMANTIC</a:t>
            </a:r>
            <a:r>
              <a:rPr sz="1100" b="1" spc="20" dirty="0">
                <a:solidFill>
                  <a:srgbClr val="29B6F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9B6F6"/>
                </a:solidFill>
                <a:latin typeface="Arial"/>
                <a:cs typeface="Arial"/>
              </a:rPr>
              <a:t>(business</a:t>
            </a:r>
            <a:r>
              <a:rPr sz="1100" b="1" spc="-40" dirty="0">
                <a:solidFill>
                  <a:srgbClr val="29B6F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9B6F6"/>
                </a:solidFill>
                <a:latin typeface="Arial"/>
                <a:cs typeface="Arial"/>
              </a:rPr>
              <a:t>meaning)</a:t>
            </a:r>
            <a:r>
              <a:rPr sz="1100" b="1" spc="270" dirty="0">
                <a:solidFill>
                  <a:srgbClr val="29B6F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9B6F6"/>
                </a:solidFill>
                <a:latin typeface="Arial"/>
                <a:cs typeface="Arial"/>
              </a:rPr>
              <a:t>--&gt;</a:t>
            </a:r>
            <a:r>
              <a:rPr sz="1100" b="1" spc="225" dirty="0">
                <a:solidFill>
                  <a:srgbClr val="29B6F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9B6F6"/>
                </a:solidFill>
                <a:latin typeface="Arial"/>
                <a:cs typeface="Arial"/>
              </a:rPr>
              <a:t>AI</a:t>
            </a:r>
            <a:r>
              <a:rPr sz="1100" b="1" spc="5" dirty="0">
                <a:solidFill>
                  <a:srgbClr val="29B6F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9B6F6"/>
                </a:solidFill>
                <a:latin typeface="Arial"/>
                <a:cs typeface="Arial"/>
              </a:rPr>
              <a:t>+</a:t>
            </a:r>
            <a:r>
              <a:rPr sz="1100" b="1" spc="-30" dirty="0">
                <a:solidFill>
                  <a:srgbClr val="29B6F6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29B6F6"/>
                </a:solidFill>
                <a:latin typeface="Arial"/>
                <a:cs typeface="Arial"/>
              </a:rPr>
              <a:t>UI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 MT"/>
                <a:cs typeface="Arial MT"/>
              </a:rPr>
              <a:t>Snowflake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Skills: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Cortex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COMPLETE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(LLM)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|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Semantic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Views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|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Streamlit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Snowflake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|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Container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Runtime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|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Governed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Prompt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Engineering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29768" y="2816339"/>
            <a:ext cx="2200910" cy="943610"/>
            <a:chOff x="429768" y="2816339"/>
            <a:chExt cx="2200910" cy="943610"/>
          </a:xfrm>
        </p:grpSpPr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9768" y="2816339"/>
              <a:ext cx="2200656" cy="94336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5968" y="2968752"/>
              <a:ext cx="2043683" cy="672084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76732" y="2840482"/>
              <a:ext cx="2110740" cy="854075"/>
            </a:xfrm>
            <a:custGeom>
              <a:avLst/>
              <a:gdLst/>
              <a:ahLst/>
              <a:cxnLst/>
              <a:rect l="l" t="t" r="r" b="b"/>
              <a:pathLst>
                <a:path w="2110740" h="854075">
                  <a:moveTo>
                    <a:pt x="1967763" y="0"/>
                  </a:moveTo>
                  <a:lnTo>
                    <a:pt x="142367" y="0"/>
                  </a:lnTo>
                  <a:lnTo>
                    <a:pt x="97368" y="7247"/>
                  </a:lnTo>
                  <a:lnTo>
                    <a:pt x="58287" y="27436"/>
                  </a:lnTo>
                  <a:lnTo>
                    <a:pt x="27468" y="58238"/>
                  </a:lnTo>
                  <a:lnTo>
                    <a:pt x="7258" y="97324"/>
                  </a:lnTo>
                  <a:lnTo>
                    <a:pt x="0" y="142367"/>
                  </a:lnTo>
                  <a:lnTo>
                    <a:pt x="0" y="711708"/>
                  </a:lnTo>
                  <a:lnTo>
                    <a:pt x="7258" y="756701"/>
                  </a:lnTo>
                  <a:lnTo>
                    <a:pt x="27468" y="795782"/>
                  </a:lnTo>
                  <a:lnTo>
                    <a:pt x="58287" y="826602"/>
                  </a:lnTo>
                  <a:lnTo>
                    <a:pt x="97368" y="846815"/>
                  </a:lnTo>
                  <a:lnTo>
                    <a:pt x="142367" y="854075"/>
                  </a:lnTo>
                  <a:lnTo>
                    <a:pt x="1967763" y="854075"/>
                  </a:lnTo>
                  <a:lnTo>
                    <a:pt x="2012756" y="846815"/>
                  </a:lnTo>
                  <a:lnTo>
                    <a:pt x="2051837" y="826602"/>
                  </a:lnTo>
                  <a:lnTo>
                    <a:pt x="2082657" y="795782"/>
                  </a:lnTo>
                  <a:lnTo>
                    <a:pt x="2102871" y="756701"/>
                  </a:lnTo>
                  <a:lnTo>
                    <a:pt x="2110130" y="711708"/>
                  </a:lnTo>
                  <a:lnTo>
                    <a:pt x="2110130" y="142367"/>
                  </a:lnTo>
                  <a:lnTo>
                    <a:pt x="2102871" y="97324"/>
                  </a:lnTo>
                  <a:lnTo>
                    <a:pt x="2082657" y="58238"/>
                  </a:lnTo>
                  <a:lnTo>
                    <a:pt x="2051837" y="27436"/>
                  </a:lnTo>
                  <a:lnTo>
                    <a:pt x="2012756" y="7247"/>
                  </a:lnTo>
                  <a:lnTo>
                    <a:pt x="1967763" y="0"/>
                  </a:lnTo>
                  <a:close/>
                </a:path>
              </a:pathLst>
            </a:custGeom>
            <a:solidFill>
              <a:srgbClr val="2D3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76732" y="2840482"/>
              <a:ext cx="2110740" cy="854075"/>
            </a:xfrm>
            <a:custGeom>
              <a:avLst/>
              <a:gdLst/>
              <a:ahLst/>
              <a:cxnLst/>
              <a:rect l="l" t="t" r="r" b="b"/>
              <a:pathLst>
                <a:path w="2110740" h="854075">
                  <a:moveTo>
                    <a:pt x="0" y="142367"/>
                  </a:moveTo>
                  <a:lnTo>
                    <a:pt x="7258" y="97324"/>
                  </a:lnTo>
                  <a:lnTo>
                    <a:pt x="27468" y="58238"/>
                  </a:lnTo>
                  <a:lnTo>
                    <a:pt x="58287" y="27436"/>
                  </a:lnTo>
                  <a:lnTo>
                    <a:pt x="97368" y="7247"/>
                  </a:lnTo>
                  <a:lnTo>
                    <a:pt x="142367" y="0"/>
                  </a:lnTo>
                  <a:lnTo>
                    <a:pt x="1967763" y="0"/>
                  </a:lnTo>
                  <a:lnTo>
                    <a:pt x="2012756" y="7247"/>
                  </a:lnTo>
                  <a:lnTo>
                    <a:pt x="2051837" y="27436"/>
                  </a:lnTo>
                  <a:lnTo>
                    <a:pt x="2082657" y="58238"/>
                  </a:lnTo>
                  <a:lnTo>
                    <a:pt x="2102871" y="97324"/>
                  </a:lnTo>
                  <a:lnTo>
                    <a:pt x="2110130" y="142367"/>
                  </a:lnTo>
                  <a:lnTo>
                    <a:pt x="2110130" y="711708"/>
                  </a:lnTo>
                  <a:lnTo>
                    <a:pt x="2102871" y="756701"/>
                  </a:lnTo>
                  <a:lnTo>
                    <a:pt x="2082657" y="795782"/>
                  </a:lnTo>
                  <a:lnTo>
                    <a:pt x="2051837" y="826602"/>
                  </a:lnTo>
                  <a:lnTo>
                    <a:pt x="2012756" y="846815"/>
                  </a:lnTo>
                  <a:lnTo>
                    <a:pt x="1967763" y="854075"/>
                  </a:lnTo>
                  <a:lnTo>
                    <a:pt x="142367" y="854075"/>
                  </a:lnTo>
                  <a:lnTo>
                    <a:pt x="97368" y="846815"/>
                  </a:lnTo>
                  <a:lnTo>
                    <a:pt x="58287" y="826602"/>
                  </a:lnTo>
                  <a:lnTo>
                    <a:pt x="27468" y="795782"/>
                  </a:lnTo>
                  <a:lnTo>
                    <a:pt x="7258" y="756701"/>
                  </a:lnTo>
                  <a:lnTo>
                    <a:pt x="0" y="711708"/>
                  </a:lnTo>
                  <a:lnTo>
                    <a:pt x="0" y="142367"/>
                  </a:lnTo>
                  <a:close/>
                </a:path>
              </a:pathLst>
            </a:custGeom>
            <a:ln w="9525">
              <a:solidFill>
                <a:srgbClr val="66BA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20674" y="3014852"/>
            <a:ext cx="1820545" cy="4991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66BA6A"/>
                </a:solidFill>
                <a:latin typeface="Arial"/>
                <a:cs typeface="Arial"/>
              </a:rPr>
              <a:t>GOVERNED</a:t>
            </a:r>
            <a:r>
              <a:rPr sz="1100" b="1" spc="-40" dirty="0">
                <a:solidFill>
                  <a:srgbClr val="66BA6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66BA6A"/>
                </a:solidFill>
                <a:latin typeface="Arial"/>
                <a:cs typeface="Arial"/>
              </a:rPr>
              <a:t>SQL</a:t>
            </a:r>
            <a:r>
              <a:rPr sz="1100" b="1" spc="-45" dirty="0">
                <a:solidFill>
                  <a:srgbClr val="66BA6A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66BA6A"/>
                </a:solidFill>
                <a:latin typeface="Arial"/>
                <a:cs typeface="Arial"/>
              </a:rPr>
              <a:t>QUERIES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AFAFAF"/>
                </a:solidFill>
                <a:latin typeface="Arial MT"/>
                <a:cs typeface="Arial MT"/>
              </a:rPr>
              <a:t>Cached</a:t>
            </a:r>
            <a:r>
              <a:rPr sz="1000" spc="-35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AFAFAF"/>
                </a:solidFill>
                <a:latin typeface="Arial MT"/>
                <a:cs typeface="Arial MT"/>
              </a:rPr>
              <a:t>5-</a:t>
            </a:r>
            <a:r>
              <a:rPr sz="1000" dirty="0">
                <a:solidFill>
                  <a:srgbClr val="AFAFAF"/>
                </a:solidFill>
                <a:latin typeface="Arial MT"/>
                <a:cs typeface="Arial MT"/>
              </a:rPr>
              <a:t>min</a:t>
            </a:r>
            <a:r>
              <a:rPr sz="1000" spc="-15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AFAFAF"/>
                </a:solidFill>
                <a:latin typeface="Arial MT"/>
                <a:cs typeface="Arial MT"/>
              </a:rPr>
              <a:t>TTL</a:t>
            </a:r>
            <a:endParaRPr sz="1000">
              <a:latin typeface="Arial MT"/>
              <a:cs typeface="Arial MT"/>
            </a:endParaRPr>
          </a:p>
          <a:p>
            <a:pPr marL="1270" algn="ctr">
              <a:lnSpc>
                <a:spcPct val="100000"/>
              </a:lnSpc>
            </a:pPr>
            <a:r>
              <a:rPr sz="1000" dirty="0">
                <a:solidFill>
                  <a:srgbClr val="AFAFAF"/>
                </a:solidFill>
                <a:latin typeface="Arial MT"/>
                <a:cs typeface="Arial MT"/>
              </a:rPr>
              <a:t>Single</a:t>
            </a:r>
            <a:r>
              <a:rPr sz="1000" spc="-50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AFAFAF"/>
                </a:solidFill>
                <a:latin typeface="Arial MT"/>
                <a:cs typeface="Arial MT"/>
              </a:rPr>
              <a:t>Canonical</a:t>
            </a:r>
            <a:r>
              <a:rPr sz="1000" spc="-50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AFAFAF"/>
                </a:solidFill>
                <a:latin typeface="Arial MT"/>
                <a:cs typeface="Arial MT"/>
              </a:rPr>
              <a:t>Path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00"/>
              </a:spcBef>
            </a:pPr>
            <a:r>
              <a:rPr dirty="0"/>
              <a:t>IMPACT</a:t>
            </a:r>
            <a:r>
              <a:rPr spc="-4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186" y="845565"/>
            <a:ext cx="3979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AFAFAF"/>
                </a:solidFill>
                <a:latin typeface="Arial"/>
                <a:cs typeface="Arial"/>
              </a:rPr>
              <a:t>Measurable</a:t>
            </a:r>
            <a:r>
              <a:rPr sz="1200" b="1" spc="-60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AFAFAF"/>
                </a:solidFill>
                <a:latin typeface="Arial"/>
                <a:cs typeface="Arial"/>
              </a:rPr>
              <a:t>Outcomes,</a:t>
            </a:r>
            <a:r>
              <a:rPr sz="1200" b="1" spc="-40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AFAFAF"/>
                </a:solidFill>
                <a:latin typeface="Arial"/>
                <a:cs typeface="Arial"/>
              </a:rPr>
              <a:t>Scalability</a:t>
            </a:r>
            <a:r>
              <a:rPr sz="1200" b="1" spc="-55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AFAFAF"/>
                </a:solidFill>
                <a:latin typeface="Arial"/>
                <a:cs typeface="Arial"/>
              </a:rPr>
              <a:t>&amp;</a:t>
            </a:r>
            <a:r>
              <a:rPr sz="1200" b="1" spc="-30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AFAFAF"/>
                </a:solidFill>
                <a:latin typeface="Arial"/>
                <a:cs typeface="Arial"/>
              </a:rPr>
              <a:t>Beyond the</a:t>
            </a:r>
            <a:r>
              <a:rPr sz="1200" b="1" spc="-35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AFAFAF"/>
                </a:solidFill>
                <a:latin typeface="Arial"/>
                <a:cs typeface="Arial"/>
              </a:rPr>
              <a:t>Demo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53920" y="1292733"/>
            <a:ext cx="16929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04040"/>
                </a:solidFill>
                <a:latin typeface="Arial"/>
                <a:cs typeface="Arial"/>
              </a:rPr>
              <a:t>MEASURABLE</a:t>
            </a:r>
            <a:r>
              <a:rPr sz="1000" b="1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404040"/>
                </a:solidFill>
                <a:latin typeface="Arial"/>
                <a:cs typeface="Arial"/>
              </a:rPr>
              <a:t>OUTCOMES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26846" y="1558671"/>
            <a:ext cx="3415029" cy="2145665"/>
            <a:chOff x="826846" y="1558671"/>
            <a:chExt cx="3415029" cy="2145665"/>
          </a:xfrm>
        </p:grpSpPr>
        <p:sp>
          <p:nvSpPr>
            <p:cNvPr id="6" name="object 6"/>
            <p:cNvSpPr/>
            <p:nvPr/>
          </p:nvSpPr>
          <p:spPr>
            <a:xfrm>
              <a:off x="839546" y="1571371"/>
              <a:ext cx="3389629" cy="2120265"/>
            </a:xfrm>
            <a:custGeom>
              <a:avLst/>
              <a:gdLst/>
              <a:ahLst/>
              <a:cxnLst/>
              <a:rect l="l" t="t" r="r" b="b"/>
              <a:pathLst>
                <a:path w="3389629" h="2120265">
                  <a:moveTo>
                    <a:pt x="3035858" y="0"/>
                  </a:moveTo>
                  <a:lnTo>
                    <a:pt x="353352" y="0"/>
                  </a:lnTo>
                  <a:lnTo>
                    <a:pt x="305404" y="3224"/>
                  </a:lnTo>
                  <a:lnTo>
                    <a:pt x="259418" y="12615"/>
                  </a:lnTo>
                  <a:lnTo>
                    <a:pt x="215812" y="27755"/>
                  </a:lnTo>
                  <a:lnTo>
                    <a:pt x="175009" y="48222"/>
                  </a:lnTo>
                  <a:lnTo>
                    <a:pt x="137430" y="73596"/>
                  </a:lnTo>
                  <a:lnTo>
                    <a:pt x="103495" y="103457"/>
                  </a:lnTo>
                  <a:lnTo>
                    <a:pt x="73626" y="137384"/>
                  </a:lnTo>
                  <a:lnTo>
                    <a:pt x="48243" y="174958"/>
                  </a:lnTo>
                  <a:lnTo>
                    <a:pt x="27768" y="215759"/>
                  </a:lnTo>
                  <a:lnTo>
                    <a:pt x="12622" y="259365"/>
                  </a:lnTo>
                  <a:lnTo>
                    <a:pt x="3225" y="305356"/>
                  </a:lnTo>
                  <a:lnTo>
                    <a:pt x="0" y="353313"/>
                  </a:lnTo>
                  <a:lnTo>
                    <a:pt x="0" y="1766570"/>
                  </a:lnTo>
                  <a:lnTo>
                    <a:pt x="3225" y="1814529"/>
                  </a:lnTo>
                  <a:lnTo>
                    <a:pt x="12622" y="1860528"/>
                  </a:lnTo>
                  <a:lnTo>
                    <a:pt x="27768" y="1904144"/>
                  </a:lnTo>
                  <a:lnTo>
                    <a:pt x="48243" y="1944957"/>
                  </a:lnTo>
                  <a:lnTo>
                    <a:pt x="73626" y="1982546"/>
                  </a:lnTo>
                  <a:lnTo>
                    <a:pt x="103495" y="2016490"/>
                  </a:lnTo>
                  <a:lnTo>
                    <a:pt x="137430" y="2046366"/>
                  </a:lnTo>
                  <a:lnTo>
                    <a:pt x="175009" y="2071755"/>
                  </a:lnTo>
                  <a:lnTo>
                    <a:pt x="215812" y="2092235"/>
                  </a:lnTo>
                  <a:lnTo>
                    <a:pt x="259418" y="2107385"/>
                  </a:lnTo>
                  <a:lnTo>
                    <a:pt x="305404" y="2116784"/>
                  </a:lnTo>
                  <a:lnTo>
                    <a:pt x="353352" y="2120010"/>
                  </a:lnTo>
                  <a:lnTo>
                    <a:pt x="3035858" y="2120010"/>
                  </a:lnTo>
                  <a:lnTo>
                    <a:pt x="3083815" y="2116784"/>
                  </a:lnTo>
                  <a:lnTo>
                    <a:pt x="3129807" y="2107385"/>
                  </a:lnTo>
                  <a:lnTo>
                    <a:pt x="3173413" y="2092235"/>
                  </a:lnTo>
                  <a:lnTo>
                    <a:pt x="3214213" y="2071755"/>
                  </a:lnTo>
                  <a:lnTo>
                    <a:pt x="3251787" y="2046366"/>
                  </a:lnTo>
                  <a:lnTo>
                    <a:pt x="3285715" y="2016490"/>
                  </a:lnTo>
                  <a:lnTo>
                    <a:pt x="3315576" y="1982546"/>
                  </a:lnTo>
                  <a:lnTo>
                    <a:pt x="3340950" y="1944957"/>
                  </a:lnTo>
                  <a:lnTo>
                    <a:pt x="3361417" y="1904144"/>
                  </a:lnTo>
                  <a:lnTo>
                    <a:pt x="3376556" y="1860528"/>
                  </a:lnTo>
                  <a:lnTo>
                    <a:pt x="3385948" y="1814529"/>
                  </a:lnTo>
                  <a:lnTo>
                    <a:pt x="3389172" y="1766570"/>
                  </a:lnTo>
                  <a:lnTo>
                    <a:pt x="3389172" y="353313"/>
                  </a:lnTo>
                  <a:lnTo>
                    <a:pt x="3385948" y="305356"/>
                  </a:lnTo>
                  <a:lnTo>
                    <a:pt x="3376556" y="259365"/>
                  </a:lnTo>
                  <a:lnTo>
                    <a:pt x="3361417" y="215759"/>
                  </a:lnTo>
                  <a:lnTo>
                    <a:pt x="3340950" y="174958"/>
                  </a:lnTo>
                  <a:lnTo>
                    <a:pt x="3315576" y="137384"/>
                  </a:lnTo>
                  <a:lnTo>
                    <a:pt x="3285715" y="103457"/>
                  </a:lnTo>
                  <a:lnTo>
                    <a:pt x="3251787" y="73596"/>
                  </a:lnTo>
                  <a:lnTo>
                    <a:pt x="3214213" y="48222"/>
                  </a:lnTo>
                  <a:lnTo>
                    <a:pt x="3173413" y="27755"/>
                  </a:lnTo>
                  <a:lnTo>
                    <a:pt x="3129807" y="12615"/>
                  </a:lnTo>
                  <a:lnTo>
                    <a:pt x="3083815" y="3224"/>
                  </a:lnTo>
                  <a:lnTo>
                    <a:pt x="30358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9546" y="1571371"/>
              <a:ext cx="3389629" cy="2120265"/>
            </a:xfrm>
            <a:custGeom>
              <a:avLst/>
              <a:gdLst/>
              <a:ahLst/>
              <a:cxnLst/>
              <a:rect l="l" t="t" r="r" b="b"/>
              <a:pathLst>
                <a:path w="3389629" h="2120265">
                  <a:moveTo>
                    <a:pt x="0" y="353313"/>
                  </a:moveTo>
                  <a:lnTo>
                    <a:pt x="3225" y="305356"/>
                  </a:lnTo>
                  <a:lnTo>
                    <a:pt x="12622" y="259365"/>
                  </a:lnTo>
                  <a:lnTo>
                    <a:pt x="27768" y="215759"/>
                  </a:lnTo>
                  <a:lnTo>
                    <a:pt x="48243" y="174958"/>
                  </a:lnTo>
                  <a:lnTo>
                    <a:pt x="73626" y="137384"/>
                  </a:lnTo>
                  <a:lnTo>
                    <a:pt x="103495" y="103457"/>
                  </a:lnTo>
                  <a:lnTo>
                    <a:pt x="137430" y="73596"/>
                  </a:lnTo>
                  <a:lnTo>
                    <a:pt x="175009" y="48222"/>
                  </a:lnTo>
                  <a:lnTo>
                    <a:pt x="215812" y="27755"/>
                  </a:lnTo>
                  <a:lnTo>
                    <a:pt x="259418" y="12615"/>
                  </a:lnTo>
                  <a:lnTo>
                    <a:pt x="305404" y="3224"/>
                  </a:lnTo>
                  <a:lnTo>
                    <a:pt x="353352" y="0"/>
                  </a:lnTo>
                  <a:lnTo>
                    <a:pt x="3035858" y="0"/>
                  </a:lnTo>
                  <a:lnTo>
                    <a:pt x="3083815" y="3224"/>
                  </a:lnTo>
                  <a:lnTo>
                    <a:pt x="3129807" y="12615"/>
                  </a:lnTo>
                  <a:lnTo>
                    <a:pt x="3173413" y="27755"/>
                  </a:lnTo>
                  <a:lnTo>
                    <a:pt x="3214213" y="48222"/>
                  </a:lnTo>
                  <a:lnTo>
                    <a:pt x="3251787" y="73596"/>
                  </a:lnTo>
                  <a:lnTo>
                    <a:pt x="3285715" y="103457"/>
                  </a:lnTo>
                  <a:lnTo>
                    <a:pt x="3315576" y="137384"/>
                  </a:lnTo>
                  <a:lnTo>
                    <a:pt x="3340950" y="174958"/>
                  </a:lnTo>
                  <a:lnTo>
                    <a:pt x="3361417" y="215759"/>
                  </a:lnTo>
                  <a:lnTo>
                    <a:pt x="3376556" y="259365"/>
                  </a:lnTo>
                  <a:lnTo>
                    <a:pt x="3385948" y="305356"/>
                  </a:lnTo>
                  <a:lnTo>
                    <a:pt x="3389172" y="353313"/>
                  </a:lnTo>
                  <a:lnTo>
                    <a:pt x="3389172" y="1766570"/>
                  </a:lnTo>
                  <a:lnTo>
                    <a:pt x="3385948" y="1814529"/>
                  </a:lnTo>
                  <a:lnTo>
                    <a:pt x="3376556" y="1860528"/>
                  </a:lnTo>
                  <a:lnTo>
                    <a:pt x="3361417" y="1904144"/>
                  </a:lnTo>
                  <a:lnTo>
                    <a:pt x="3340950" y="1944957"/>
                  </a:lnTo>
                  <a:lnTo>
                    <a:pt x="3315576" y="1982546"/>
                  </a:lnTo>
                  <a:lnTo>
                    <a:pt x="3285715" y="2016490"/>
                  </a:lnTo>
                  <a:lnTo>
                    <a:pt x="3251787" y="2046366"/>
                  </a:lnTo>
                  <a:lnTo>
                    <a:pt x="3214213" y="2071755"/>
                  </a:lnTo>
                  <a:lnTo>
                    <a:pt x="3173413" y="2092235"/>
                  </a:lnTo>
                  <a:lnTo>
                    <a:pt x="3129807" y="2107385"/>
                  </a:lnTo>
                  <a:lnTo>
                    <a:pt x="3083815" y="2116784"/>
                  </a:lnTo>
                  <a:lnTo>
                    <a:pt x="3035858" y="2120010"/>
                  </a:lnTo>
                  <a:lnTo>
                    <a:pt x="353352" y="2120010"/>
                  </a:lnTo>
                  <a:lnTo>
                    <a:pt x="305404" y="2116784"/>
                  </a:lnTo>
                  <a:lnTo>
                    <a:pt x="259418" y="2107385"/>
                  </a:lnTo>
                  <a:lnTo>
                    <a:pt x="215812" y="2092235"/>
                  </a:lnTo>
                  <a:lnTo>
                    <a:pt x="175009" y="2071755"/>
                  </a:lnTo>
                  <a:lnTo>
                    <a:pt x="137430" y="2046366"/>
                  </a:lnTo>
                  <a:lnTo>
                    <a:pt x="103495" y="2016490"/>
                  </a:lnTo>
                  <a:lnTo>
                    <a:pt x="73626" y="1982546"/>
                  </a:lnTo>
                  <a:lnTo>
                    <a:pt x="48243" y="1944957"/>
                  </a:lnTo>
                  <a:lnTo>
                    <a:pt x="27768" y="1904144"/>
                  </a:lnTo>
                  <a:lnTo>
                    <a:pt x="12622" y="1860528"/>
                  </a:lnTo>
                  <a:lnTo>
                    <a:pt x="3225" y="1814529"/>
                  </a:lnTo>
                  <a:lnTo>
                    <a:pt x="0" y="1766570"/>
                  </a:lnTo>
                  <a:lnTo>
                    <a:pt x="0" y="353313"/>
                  </a:lnTo>
                  <a:close/>
                </a:path>
              </a:pathLst>
            </a:custGeom>
            <a:ln w="25400">
              <a:solidFill>
                <a:srgbClr val="EDFF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21791" y="1560982"/>
            <a:ext cx="2909570" cy="210947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000" b="1" dirty="0">
                <a:latin typeface="Arial"/>
                <a:cs typeface="Arial"/>
              </a:rPr>
              <a:t>Metric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Reconciliation</a:t>
            </a:r>
            <a:endParaRPr sz="1000">
              <a:latin typeface="Arial"/>
              <a:cs typeface="Arial"/>
            </a:endParaRPr>
          </a:p>
          <a:p>
            <a:pPr marL="153035">
              <a:lnSpc>
                <a:spcPct val="100000"/>
              </a:lnSpc>
              <a:spcBef>
                <a:spcPts val="200"/>
              </a:spcBef>
            </a:pPr>
            <a:r>
              <a:rPr sz="1000" spc="-10" dirty="0">
                <a:latin typeface="Arial MT"/>
                <a:cs typeface="Arial MT"/>
              </a:rPr>
              <a:t>4-</a:t>
            </a:r>
            <a:r>
              <a:rPr sz="1000" dirty="0">
                <a:latin typeface="Arial MT"/>
                <a:cs typeface="Arial MT"/>
              </a:rPr>
              <a:t>6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hrs/wk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--</a:t>
            </a:r>
            <a:r>
              <a:rPr sz="1000" dirty="0">
                <a:latin typeface="Arial MT"/>
                <a:cs typeface="Arial MT"/>
              </a:rPr>
              <a:t>&gt;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0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hrs</a:t>
            </a:r>
            <a:r>
              <a:rPr sz="1000" spc="25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=</a:t>
            </a:r>
            <a:r>
              <a:rPr sz="1000" spc="26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100%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eliminated</a:t>
            </a:r>
            <a:endParaRPr sz="1000">
              <a:latin typeface="Arial MT"/>
              <a:cs typeface="Arial MT"/>
            </a:endParaRPr>
          </a:p>
          <a:p>
            <a:pPr marL="82550">
              <a:lnSpc>
                <a:spcPct val="100000"/>
              </a:lnSpc>
              <a:spcBef>
                <a:spcPts val="795"/>
              </a:spcBef>
            </a:pPr>
            <a:r>
              <a:rPr sz="1000" b="1" spc="-10" dirty="0">
                <a:latin typeface="Arial"/>
                <a:cs typeface="Arial"/>
              </a:rPr>
              <a:t>Cross-</a:t>
            </a:r>
            <a:r>
              <a:rPr sz="1000" b="1" dirty="0">
                <a:latin typeface="Arial"/>
                <a:cs typeface="Arial"/>
              </a:rPr>
              <a:t>Team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Agreement</a:t>
            </a:r>
            <a:endParaRPr sz="1000">
              <a:latin typeface="Arial"/>
              <a:cs typeface="Arial"/>
            </a:endParaRPr>
          </a:p>
          <a:p>
            <a:pPr marL="153035">
              <a:lnSpc>
                <a:spcPct val="100000"/>
              </a:lnSpc>
              <a:spcBef>
                <a:spcPts val="204"/>
              </a:spcBef>
            </a:pPr>
            <a:r>
              <a:rPr sz="1000" dirty="0">
                <a:latin typeface="Arial MT"/>
                <a:cs typeface="Arial MT"/>
              </a:rPr>
              <a:t>~60%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(3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definitions)</a:t>
            </a:r>
            <a:r>
              <a:rPr sz="1000" spc="2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=</a:t>
            </a:r>
            <a:r>
              <a:rPr sz="1000" spc="2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100%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consistent</a:t>
            </a:r>
            <a:endParaRPr sz="1000">
              <a:latin typeface="Arial MT"/>
              <a:cs typeface="Arial MT"/>
            </a:endParaRPr>
          </a:p>
          <a:p>
            <a:pPr marL="82550">
              <a:lnSpc>
                <a:spcPct val="100000"/>
              </a:lnSpc>
              <a:spcBef>
                <a:spcPts val="800"/>
              </a:spcBef>
            </a:pPr>
            <a:r>
              <a:rPr sz="1000" b="1" spc="-10" dirty="0">
                <a:latin typeface="Arial"/>
                <a:cs typeface="Arial"/>
              </a:rPr>
              <a:t>Time-to-Insight</a:t>
            </a:r>
            <a:endParaRPr sz="1000">
              <a:latin typeface="Arial"/>
              <a:cs typeface="Arial"/>
            </a:endParaRPr>
          </a:p>
          <a:p>
            <a:pPr marL="153035">
              <a:lnSpc>
                <a:spcPct val="100000"/>
              </a:lnSpc>
              <a:spcBef>
                <a:spcPts val="195"/>
              </a:spcBef>
            </a:pPr>
            <a:r>
              <a:rPr sz="1000" spc="-10" dirty="0">
                <a:latin typeface="Arial MT"/>
                <a:cs typeface="Arial MT"/>
              </a:rPr>
              <a:t>2-</a:t>
            </a:r>
            <a:r>
              <a:rPr sz="1000" dirty="0">
                <a:latin typeface="Arial MT"/>
                <a:cs typeface="Arial MT"/>
              </a:rPr>
              <a:t>3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days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(reports)</a:t>
            </a:r>
            <a:r>
              <a:rPr sz="1000" spc="24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=</a:t>
            </a:r>
            <a:r>
              <a:rPr sz="1000" spc="229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Real-</a:t>
            </a:r>
            <a:r>
              <a:rPr sz="1000" dirty="0">
                <a:latin typeface="Arial MT"/>
                <a:cs typeface="Arial MT"/>
              </a:rPr>
              <a:t>time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(AI)</a:t>
            </a:r>
            <a:r>
              <a:rPr sz="1000" spc="24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&gt;95%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faster</a:t>
            </a:r>
            <a:endParaRPr sz="1000">
              <a:latin typeface="Arial MT"/>
              <a:cs typeface="Arial MT"/>
            </a:endParaRPr>
          </a:p>
          <a:p>
            <a:pPr marL="82550">
              <a:lnSpc>
                <a:spcPct val="100000"/>
              </a:lnSpc>
              <a:spcBef>
                <a:spcPts val="805"/>
              </a:spcBef>
            </a:pPr>
            <a:r>
              <a:rPr sz="1000" b="1" dirty="0">
                <a:latin typeface="Arial"/>
                <a:cs typeface="Arial"/>
              </a:rPr>
              <a:t>Risk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Detection</a:t>
            </a:r>
            <a:endParaRPr sz="1000">
              <a:latin typeface="Arial"/>
              <a:cs typeface="Arial"/>
            </a:endParaRPr>
          </a:p>
          <a:p>
            <a:pPr marL="153035">
              <a:lnSpc>
                <a:spcPct val="100000"/>
              </a:lnSpc>
              <a:spcBef>
                <a:spcPts val="204"/>
              </a:spcBef>
            </a:pPr>
            <a:r>
              <a:rPr sz="1000" dirty="0">
                <a:latin typeface="Arial MT"/>
                <a:cs typeface="Arial MT"/>
              </a:rPr>
              <a:t>Manual,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weekly</a:t>
            </a:r>
            <a:r>
              <a:rPr sz="1000" spc="229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=</a:t>
            </a:r>
            <a:r>
              <a:rPr sz="1000" spc="2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Automated,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continuous</a:t>
            </a:r>
            <a:endParaRPr sz="1000">
              <a:latin typeface="Arial MT"/>
              <a:cs typeface="Arial MT"/>
            </a:endParaRPr>
          </a:p>
          <a:p>
            <a:pPr marL="82550">
              <a:lnSpc>
                <a:spcPct val="100000"/>
              </a:lnSpc>
              <a:spcBef>
                <a:spcPts val="790"/>
              </a:spcBef>
            </a:pPr>
            <a:r>
              <a:rPr sz="1000" b="1" dirty="0">
                <a:latin typeface="Arial"/>
                <a:cs typeface="Arial"/>
              </a:rPr>
              <a:t>Decision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Confidence</a:t>
            </a:r>
            <a:endParaRPr sz="1000">
              <a:latin typeface="Arial"/>
              <a:cs typeface="Arial"/>
            </a:endParaRPr>
          </a:p>
          <a:p>
            <a:pPr marL="153035">
              <a:lnSpc>
                <a:spcPct val="100000"/>
              </a:lnSpc>
              <a:spcBef>
                <a:spcPts val="204"/>
              </a:spcBef>
            </a:pPr>
            <a:r>
              <a:rPr sz="1000" dirty="0">
                <a:latin typeface="Arial MT"/>
                <a:cs typeface="Arial MT"/>
              </a:rPr>
              <a:t>Low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(conflicting)</a:t>
            </a:r>
            <a:r>
              <a:rPr sz="1000" spc="2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=</a:t>
            </a:r>
            <a:r>
              <a:rPr sz="1000" spc="229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High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(governed,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auditable)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9565" y="639317"/>
            <a:ext cx="8597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404040"/>
                </a:solidFill>
                <a:latin typeface="Arial"/>
                <a:cs typeface="Arial"/>
              </a:rPr>
              <a:t>SCALABILITY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902580" y="852042"/>
            <a:ext cx="3803650" cy="1339850"/>
            <a:chOff x="4902580" y="852042"/>
            <a:chExt cx="3803650" cy="1339850"/>
          </a:xfrm>
        </p:grpSpPr>
        <p:sp>
          <p:nvSpPr>
            <p:cNvPr id="11" name="object 11"/>
            <p:cNvSpPr/>
            <p:nvPr/>
          </p:nvSpPr>
          <p:spPr>
            <a:xfrm>
              <a:off x="4915280" y="864742"/>
              <a:ext cx="3778250" cy="1314450"/>
            </a:xfrm>
            <a:custGeom>
              <a:avLst/>
              <a:gdLst/>
              <a:ahLst/>
              <a:cxnLst/>
              <a:rect l="l" t="t" r="r" b="b"/>
              <a:pathLst>
                <a:path w="3778250" h="1314450">
                  <a:moveTo>
                    <a:pt x="3559048" y="0"/>
                  </a:moveTo>
                  <a:lnTo>
                    <a:pt x="219075" y="0"/>
                  </a:lnTo>
                  <a:lnTo>
                    <a:pt x="168830" y="5790"/>
                  </a:lnTo>
                  <a:lnTo>
                    <a:pt x="122714" y="22282"/>
                  </a:lnTo>
                  <a:lnTo>
                    <a:pt x="82038" y="48155"/>
                  </a:lnTo>
                  <a:lnTo>
                    <a:pt x="48115" y="82091"/>
                  </a:lnTo>
                  <a:lnTo>
                    <a:pt x="22260" y="122769"/>
                  </a:lnTo>
                  <a:lnTo>
                    <a:pt x="5783" y="168870"/>
                  </a:lnTo>
                  <a:lnTo>
                    <a:pt x="0" y="219075"/>
                  </a:lnTo>
                  <a:lnTo>
                    <a:pt x="0" y="1095375"/>
                  </a:lnTo>
                  <a:lnTo>
                    <a:pt x="5783" y="1145572"/>
                  </a:lnTo>
                  <a:lnTo>
                    <a:pt x="22260" y="1191655"/>
                  </a:lnTo>
                  <a:lnTo>
                    <a:pt x="48115" y="1232308"/>
                  </a:lnTo>
                  <a:lnTo>
                    <a:pt x="82038" y="1266217"/>
                  </a:lnTo>
                  <a:lnTo>
                    <a:pt x="122714" y="1292065"/>
                  </a:lnTo>
                  <a:lnTo>
                    <a:pt x="168830" y="1308539"/>
                  </a:lnTo>
                  <a:lnTo>
                    <a:pt x="219075" y="1314323"/>
                  </a:lnTo>
                  <a:lnTo>
                    <a:pt x="3559048" y="1314323"/>
                  </a:lnTo>
                  <a:lnTo>
                    <a:pt x="3609252" y="1308539"/>
                  </a:lnTo>
                  <a:lnTo>
                    <a:pt x="3655353" y="1292065"/>
                  </a:lnTo>
                  <a:lnTo>
                    <a:pt x="3696031" y="1266217"/>
                  </a:lnTo>
                  <a:lnTo>
                    <a:pt x="3729967" y="1232308"/>
                  </a:lnTo>
                  <a:lnTo>
                    <a:pt x="3755840" y="1191655"/>
                  </a:lnTo>
                  <a:lnTo>
                    <a:pt x="3772332" y="1145572"/>
                  </a:lnTo>
                  <a:lnTo>
                    <a:pt x="3778123" y="1095375"/>
                  </a:lnTo>
                  <a:lnTo>
                    <a:pt x="3778123" y="219075"/>
                  </a:lnTo>
                  <a:lnTo>
                    <a:pt x="3772332" y="168870"/>
                  </a:lnTo>
                  <a:lnTo>
                    <a:pt x="3755840" y="122769"/>
                  </a:lnTo>
                  <a:lnTo>
                    <a:pt x="3729967" y="82091"/>
                  </a:lnTo>
                  <a:lnTo>
                    <a:pt x="3696031" y="48155"/>
                  </a:lnTo>
                  <a:lnTo>
                    <a:pt x="3655353" y="22282"/>
                  </a:lnTo>
                  <a:lnTo>
                    <a:pt x="3609252" y="5790"/>
                  </a:lnTo>
                  <a:lnTo>
                    <a:pt x="35590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15280" y="864742"/>
              <a:ext cx="3778250" cy="1314450"/>
            </a:xfrm>
            <a:custGeom>
              <a:avLst/>
              <a:gdLst/>
              <a:ahLst/>
              <a:cxnLst/>
              <a:rect l="l" t="t" r="r" b="b"/>
              <a:pathLst>
                <a:path w="3778250" h="1314450">
                  <a:moveTo>
                    <a:pt x="0" y="219075"/>
                  </a:moveTo>
                  <a:lnTo>
                    <a:pt x="5783" y="168870"/>
                  </a:lnTo>
                  <a:lnTo>
                    <a:pt x="22260" y="122769"/>
                  </a:lnTo>
                  <a:lnTo>
                    <a:pt x="48115" y="82091"/>
                  </a:lnTo>
                  <a:lnTo>
                    <a:pt x="82038" y="48155"/>
                  </a:lnTo>
                  <a:lnTo>
                    <a:pt x="122714" y="22282"/>
                  </a:lnTo>
                  <a:lnTo>
                    <a:pt x="168830" y="5790"/>
                  </a:lnTo>
                  <a:lnTo>
                    <a:pt x="219075" y="0"/>
                  </a:lnTo>
                  <a:lnTo>
                    <a:pt x="3559048" y="0"/>
                  </a:lnTo>
                  <a:lnTo>
                    <a:pt x="3609252" y="5790"/>
                  </a:lnTo>
                  <a:lnTo>
                    <a:pt x="3655353" y="22282"/>
                  </a:lnTo>
                  <a:lnTo>
                    <a:pt x="3696031" y="48155"/>
                  </a:lnTo>
                  <a:lnTo>
                    <a:pt x="3729967" y="82091"/>
                  </a:lnTo>
                  <a:lnTo>
                    <a:pt x="3755840" y="122769"/>
                  </a:lnTo>
                  <a:lnTo>
                    <a:pt x="3772332" y="168870"/>
                  </a:lnTo>
                  <a:lnTo>
                    <a:pt x="3778123" y="219075"/>
                  </a:lnTo>
                  <a:lnTo>
                    <a:pt x="3778123" y="1095375"/>
                  </a:lnTo>
                  <a:lnTo>
                    <a:pt x="3772332" y="1145572"/>
                  </a:lnTo>
                  <a:lnTo>
                    <a:pt x="3755840" y="1191655"/>
                  </a:lnTo>
                  <a:lnTo>
                    <a:pt x="3729967" y="1232308"/>
                  </a:lnTo>
                  <a:lnTo>
                    <a:pt x="3696031" y="1266217"/>
                  </a:lnTo>
                  <a:lnTo>
                    <a:pt x="3655353" y="1292065"/>
                  </a:lnTo>
                  <a:lnTo>
                    <a:pt x="3609252" y="1308539"/>
                  </a:lnTo>
                  <a:lnTo>
                    <a:pt x="3559048" y="1314323"/>
                  </a:lnTo>
                  <a:lnTo>
                    <a:pt x="219075" y="1314323"/>
                  </a:lnTo>
                  <a:lnTo>
                    <a:pt x="168830" y="1308539"/>
                  </a:lnTo>
                  <a:lnTo>
                    <a:pt x="122714" y="1292065"/>
                  </a:lnTo>
                  <a:lnTo>
                    <a:pt x="82038" y="1266217"/>
                  </a:lnTo>
                  <a:lnTo>
                    <a:pt x="48115" y="1232308"/>
                  </a:lnTo>
                  <a:lnTo>
                    <a:pt x="22260" y="1191655"/>
                  </a:lnTo>
                  <a:lnTo>
                    <a:pt x="5783" y="1145572"/>
                  </a:lnTo>
                  <a:lnTo>
                    <a:pt x="0" y="1095375"/>
                  </a:lnTo>
                  <a:lnTo>
                    <a:pt x="0" y="219075"/>
                  </a:lnTo>
                  <a:close/>
                </a:path>
              </a:pathLst>
            </a:custGeom>
            <a:ln w="25399">
              <a:solidFill>
                <a:srgbClr val="EDFF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129021" y="1048969"/>
            <a:ext cx="337883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Horizontal: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Add</a:t>
            </a:r>
            <a:r>
              <a:rPr sz="1000" spc="-6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KPIs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once,</a:t>
            </a:r>
            <a:r>
              <a:rPr sz="1000" spc="-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available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everywhere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000" dirty="0">
                <a:latin typeface="Arial MT"/>
                <a:cs typeface="Arial MT"/>
              </a:rPr>
              <a:t>Vertical: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Extend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Tier-</a:t>
            </a:r>
            <a:r>
              <a:rPr sz="1000" dirty="0">
                <a:latin typeface="Arial MT"/>
                <a:cs typeface="Arial MT"/>
              </a:rPr>
              <a:t>2/3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suppliers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000" spc="-10" dirty="0">
                <a:latin typeface="Arial MT"/>
                <a:cs typeface="Arial MT"/>
              </a:rPr>
              <a:t>Cross-</a:t>
            </a:r>
            <a:r>
              <a:rPr sz="1000" dirty="0">
                <a:latin typeface="Arial MT"/>
                <a:cs typeface="Arial MT"/>
              </a:rPr>
              <a:t>Enterprise:</a:t>
            </a:r>
            <a:r>
              <a:rPr sz="1000" spc="-10" dirty="0">
                <a:latin typeface="Arial MT"/>
                <a:cs typeface="Arial MT"/>
              </a:rPr>
              <a:t> Replicable</a:t>
            </a:r>
            <a:r>
              <a:rPr sz="1000" dirty="0">
                <a:latin typeface="Arial MT"/>
                <a:cs typeface="Arial MT"/>
              </a:rPr>
              <a:t> to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pharma,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auto,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energy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000" dirty="0">
                <a:latin typeface="Arial MT"/>
                <a:cs typeface="Arial MT"/>
              </a:rPr>
              <a:t>AI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Scaling: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Swap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LLM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models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without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changing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governance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902580" y="2531998"/>
            <a:ext cx="3775075" cy="1339850"/>
            <a:chOff x="4902580" y="2531998"/>
            <a:chExt cx="3775075" cy="1339850"/>
          </a:xfrm>
        </p:grpSpPr>
        <p:sp>
          <p:nvSpPr>
            <p:cNvPr id="15" name="object 15"/>
            <p:cNvSpPr/>
            <p:nvPr/>
          </p:nvSpPr>
          <p:spPr>
            <a:xfrm>
              <a:off x="4915280" y="2544698"/>
              <a:ext cx="3749675" cy="1314450"/>
            </a:xfrm>
            <a:custGeom>
              <a:avLst/>
              <a:gdLst/>
              <a:ahLst/>
              <a:cxnLst/>
              <a:rect l="l" t="t" r="r" b="b"/>
              <a:pathLst>
                <a:path w="3749675" h="1314450">
                  <a:moveTo>
                    <a:pt x="3530600" y="0"/>
                  </a:moveTo>
                  <a:lnTo>
                    <a:pt x="219075" y="0"/>
                  </a:lnTo>
                  <a:lnTo>
                    <a:pt x="168830" y="5783"/>
                  </a:lnTo>
                  <a:lnTo>
                    <a:pt x="122714" y="22257"/>
                  </a:lnTo>
                  <a:lnTo>
                    <a:pt x="82038" y="48105"/>
                  </a:lnTo>
                  <a:lnTo>
                    <a:pt x="48115" y="82014"/>
                  </a:lnTo>
                  <a:lnTo>
                    <a:pt x="22260" y="122667"/>
                  </a:lnTo>
                  <a:lnTo>
                    <a:pt x="5783" y="168750"/>
                  </a:lnTo>
                  <a:lnTo>
                    <a:pt x="0" y="218948"/>
                  </a:lnTo>
                  <a:lnTo>
                    <a:pt x="0" y="1095248"/>
                  </a:lnTo>
                  <a:lnTo>
                    <a:pt x="5783" y="1145452"/>
                  </a:lnTo>
                  <a:lnTo>
                    <a:pt x="22260" y="1191553"/>
                  </a:lnTo>
                  <a:lnTo>
                    <a:pt x="48115" y="1232231"/>
                  </a:lnTo>
                  <a:lnTo>
                    <a:pt x="82038" y="1266167"/>
                  </a:lnTo>
                  <a:lnTo>
                    <a:pt x="122714" y="1292040"/>
                  </a:lnTo>
                  <a:lnTo>
                    <a:pt x="168830" y="1308532"/>
                  </a:lnTo>
                  <a:lnTo>
                    <a:pt x="219075" y="1314323"/>
                  </a:lnTo>
                  <a:lnTo>
                    <a:pt x="3530600" y="1314323"/>
                  </a:lnTo>
                  <a:lnTo>
                    <a:pt x="3580844" y="1308532"/>
                  </a:lnTo>
                  <a:lnTo>
                    <a:pt x="3626960" y="1292040"/>
                  </a:lnTo>
                  <a:lnTo>
                    <a:pt x="3667636" y="1266167"/>
                  </a:lnTo>
                  <a:lnTo>
                    <a:pt x="3701559" y="1232231"/>
                  </a:lnTo>
                  <a:lnTo>
                    <a:pt x="3727414" y="1191553"/>
                  </a:lnTo>
                  <a:lnTo>
                    <a:pt x="3743891" y="1145452"/>
                  </a:lnTo>
                  <a:lnTo>
                    <a:pt x="3749675" y="1095248"/>
                  </a:lnTo>
                  <a:lnTo>
                    <a:pt x="3749675" y="218948"/>
                  </a:lnTo>
                  <a:lnTo>
                    <a:pt x="3743891" y="168750"/>
                  </a:lnTo>
                  <a:lnTo>
                    <a:pt x="3727414" y="122667"/>
                  </a:lnTo>
                  <a:lnTo>
                    <a:pt x="3701559" y="82014"/>
                  </a:lnTo>
                  <a:lnTo>
                    <a:pt x="3667636" y="48105"/>
                  </a:lnTo>
                  <a:lnTo>
                    <a:pt x="3626960" y="22257"/>
                  </a:lnTo>
                  <a:lnTo>
                    <a:pt x="3580844" y="5783"/>
                  </a:lnTo>
                  <a:lnTo>
                    <a:pt x="3530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15280" y="2544698"/>
              <a:ext cx="3749675" cy="1314450"/>
            </a:xfrm>
            <a:custGeom>
              <a:avLst/>
              <a:gdLst/>
              <a:ahLst/>
              <a:cxnLst/>
              <a:rect l="l" t="t" r="r" b="b"/>
              <a:pathLst>
                <a:path w="3749675" h="1314450">
                  <a:moveTo>
                    <a:pt x="0" y="218948"/>
                  </a:moveTo>
                  <a:lnTo>
                    <a:pt x="5783" y="168750"/>
                  </a:lnTo>
                  <a:lnTo>
                    <a:pt x="22260" y="122667"/>
                  </a:lnTo>
                  <a:lnTo>
                    <a:pt x="48115" y="82014"/>
                  </a:lnTo>
                  <a:lnTo>
                    <a:pt x="82038" y="48105"/>
                  </a:lnTo>
                  <a:lnTo>
                    <a:pt x="122714" y="22257"/>
                  </a:lnTo>
                  <a:lnTo>
                    <a:pt x="168830" y="5783"/>
                  </a:lnTo>
                  <a:lnTo>
                    <a:pt x="219075" y="0"/>
                  </a:lnTo>
                  <a:lnTo>
                    <a:pt x="3530600" y="0"/>
                  </a:lnTo>
                  <a:lnTo>
                    <a:pt x="3580844" y="5783"/>
                  </a:lnTo>
                  <a:lnTo>
                    <a:pt x="3626960" y="22257"/>
                  </a:lnTo>
                  <a:lnTo>
                    <a:pt x="3667636" y="48105"/>
                  </a:lnTo>
                  <a:lnTo>
                    <a:pt x="3701559" y="82014"/>
                  </a:lnTo>
                  <a:lnTo>
                    <a:pt x="3727414" y="122667"/>
                  </a:lnTo>
                  <a:lnTo>
                    <a:pt x="3743891" y="168750"/>
                  </a:lnTo>
                  <a:lnTo>
                    <a:pt x="3749675" y="218948"/>
                  </a:lnTo>
                  <a:lnTo>
                    <a:pt x="3749675" y="1095248"/>
                  </a:lnTo>
                  <a:lnTo>
                    <a:pt x="3743891" y="1145452"/>
                  </a:lnTo>
                  <a:lnTo>
                    <a:pt x="3727414" y="1191553"/>
                  </a:lnTo>
                  <a:lnTo>
                    <a:pt x="3701559" y="1232231"/>
                  </a:lnTo>
                  <a:lnTo>
                    <a:pt x="3667636" y="1266167"/>
                  </a:lnTo>
                  <a:lnTo>
                    <a:pt x="3626960" y="1292040"/>
                  </a:lnTo>
                  <a:lnTo>
                    <a:pt x="3580844" y="1308532"/>
                  </a:lnTo>
                  <a:lnTo>
                    <a:pt x="3530600" y="1314323"/>
                  </a:lnTo>
                  <a:lnTo>
                    <a:pt x="219075" y="1314323"/>
                  </a:lnTo>
                  <a:lnTo>
                    <a:pt x="168830" y="1308532"/>
                  </a:lnTo>
                  <a:lnTo>
                    <a:pt x="122714" y="1292040"/>
                  </a:lnTo>
                  <a:lnTo>
                    <a:pt x="82038" y="1266167"/>
                  </a:lnTo>
                  <a:lnTo>
                    <a:pt x="48115" y="1232231"/>
                  </a:lnTo>
                  <a:lnTo>
                    <a:pt x="22260" y="1191553"/>
                  </a:lnTo>
                  <a:lnTo>
                    <a:pt x="5783" y="1145452"/>
                  </a:lnTo>
                  <a:lnTo>
                    <a:pt x="0" y="1095248"/>
                  </a:lnTo>
                  <a:lnTo>
                    <a:pt x="0" y="218948"/>
                  </a:lnTo>
                  <a:close/>
                </a:path>
              </a:pathLst>
            </a:custGeom>
            <a:ln w="25400">
              <a:solidFill>
                <a:srgbClr val="EDFF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545073" y="2577090"/>
            <a:ext cx="2559685" cy="1168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34925" algn="ctr">
              <a:lnSpc>
                <a:spcPct val="15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Cortex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Analyst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production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NL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queries </a:t>
            </a:r>
            <a:r>
              <a:rPr sz="1000" dirty="0">
                <a:latin typeface="Arial MT"/>
                <a:cs typeface="Arial MT"/>
              </a:rPr>
              <a:t>Dynamic Tables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sub-</a:t>
            </a:r>
            <a:r>
              <a:rPr sz="1000" dirty="0">
                <a:latin typeface="Arial MT"/>
                <a:cs typeface="Arial MT"/>
              </a:rPr>
              <a:t>minute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refresh </a:t>
            </a:r>
            <a:r>
              <a:rPr sz="1000" dirty="0">
                <a:latin typeface="Arial MT"/>
                <a:cs typeface="Arial MT"/>
              </a:rPr>
              <a:t>Snowflake</a:t>
            </a:r>
            <a:r>
              <a:rPr sz="1000" spc="-5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Alerts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on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RAG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threshold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breaches Marketplace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sharing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supplier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partners Arctic-</a:t>
            </a:r>
            <a:r>
              <a:rPr sz="1000" dirty="0">
                <a:latin typeface="Arial MT"/>
                <a:cs typeface="Arial MT"/>
              </a:rPr>
              <a:t>Extract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contract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risk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scoring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93714" y="2319654"/>
            <a:ext cx="12744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04040"/>
                </a:solidFill>
                <a:latin typeface="Arial"/>
                <a:cs typeface="Arial"/>
              </a:rPr>
              <a:t>BEYOND</a:t>
            </a:r>
            <a:r>
              <a:rPr sz="10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10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404040"/>
                </a:solidFill>
                <a:latin typeface="Arial"/>
                <a:cs typeface="Arial"/>
              </a:rPr>
              <a:t>DEMO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7659" y="4060952"/>
            <a:ext cx="7883525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87325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"The</a:t>
            </a:r>
            <a:r>
              <a:rPr sz="1200" spc="-40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most</a:t>
            </a:r>
            <a:r>
              <a:rPr sz="1200" spc="-15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expensive</a:t>
            </a:r>
            <a:r>
              <a:rPr sz="1200" spc="-25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AI</a:t>
            </a:r>
            <a:r>
              <a:rPr sz="1200" spc="-5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92D050"/>
                </a:solidFill>
                <a:latin typeface="Arial MT"/>
                <a:cs typeface="Arial MT"/>
              </a:rPr>
              <a:t>hallucination</a:t>
            </a:r>
            <a:r>
              <a:rPr sz="1200" spc="-50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isn't</a:t>
            </a:r>
            <a:r>
              <a:rPr sz="1200" spc="-15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a</a:t>
            </a:r>
            <a:r>
              <a:rPr sz="1200" spc="-5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wrong</a:t>
            </a:r>
            <a:r>
              <a:rPr sz="1200" spc="-15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answer</a:t>
            </a:r>
            <a:r>
              <a:rPr sz="1200" spc="5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-</a:t>
            </a:r>
            <a:r>
              <a:rPr sz="1200" spc="-10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it's</a:t>
            </a:r>
            <a:r>
              <a:rPr sz="1200" spc="-5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a</a:t>
            </a:r>
            <a:r>
              <a:rPr sz="1200" spc="-10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plausible</a:t>
            </a:r>
            <a:r>
              <a:rPr sz="1200" spc="-50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but</a:t>
            </a:r>
            <a:r>
              <a:rPr sz="1200" spc="-15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ungoverned</a:t>
            </a:r>
            <a:r>
              <a:rPr sz="1200" spc="-50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92D050"/>
                </a:solidFill>
                <a:latin typeface="Arial MT"/>
                <a:cs typeface="Arial MT"/>
              </a:rPr>
              <a:t>answer</a:t>
            </a:r>
            <a:endParaRPr sz="1200">
              <a:latin typeface="Arial MT"/>
              <a:cs typeface="Arial MT"/>
            </a:endParaRPr>
          </a:p>
          <a:p>
            <a:pPr marR="144145" algn="ctr">
              <a:lnSpc>
                <a:spcPct val="100000"/>
              </a:lnSpc>
            </a:pP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that</a:t>
            </a:r>
            <a:r>
              <a:rPr sz="1200" spc="-25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different</a:t>
            </a:r>
            <a:r>
              <a:rPr sz="1200" spc="-50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teams</a:t>
            </a:r>
            <a:r>
              <a:rPr sz="1200" spc="-35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interpret</a:t>
            </a:r>
            <a:r>
              <a:rPr sz="1200" spc="-35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differently.</a:t>
            </a:r>
            <a:r>
              <a:rPr sz="1200" spc="-30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92D050"/>
                </a:solidFill>
                <a:latin typeface="Arial MT"/>
                <a:cs typeface="Arial MT"/>
              </a:rPr>
              <a:t>Ontology-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first</a:t>
            </a:r>
            <a:r>
              <a:rPr sz="1200" spc="-25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governance</a:t>
            </a:r>
            <a:r>
              <a:rPr sz="1200" spc="-25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makes</a:t>
            </a:r>
            <a:r>
              <a:rPr sz="1200" spc="-45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AI</a:t>
            </a:r>
            <a:r>
              <a:rPr sz="1200" spc="-15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trustworthy</a:t>
            </a:r>
            <a:r>
              <a:rPr sz="1200" spc="-15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at</a:t>
            </a:r>
            <a:r>
              <a:rPr sz="1200" spc="-20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2D050"/>
                </a:solidFill>
                <a:latin typeface="Arial MT"/>
                <a:cs typeface="Arial MT"/>
              </a:rPr>
              <a:t>enterprise</a:t>
            </a:r>
            <a:r>
              <a:rPr sz="1200" spc="-45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92D050"/>
                </a:solidFill>
                <a:latin typeface="Arial MT"/>
                <a:cs typeface="Arial MT"/>
              </a:rPr>
              <a:t>scale."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Arial MT"/>
                <a:cs typeface="Arial MT"/>
              </a:rPr>
              <a:t>Built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on: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Snowflake</a:t>
            </a:r>
            <a:r>
              <a:rPr sz="1000" spc="2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|</a:t>
            </a:r>
            <a:r>
              <a:rPr sz="1000" spc="229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Cortex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COMPLETE</a:t>
            </a:r>
            <a:r>
              <a:rPr sz="1000" spc="2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|</a:t>
            </a:r>
            <a:r>
              <a:rPr sz="1000" spc="2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Streamlit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Snowflake</a:t>
            </a:r>
            <a:r>
              <a:rPr sz="1000" spc="2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|</a:t>
            </a:r>
            <a:r>
              <a:rPr sz="1000" spc="229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Governed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Semantic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Views</a:t>
            </a:r>
            <a:r>
              <a:rPr sz="1000" spc="25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|</a:t>
            </a:r>
            <a:r>
              <a:rPr sz="1000" spc="2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DB: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AEROSPACE_SUPPLY_CHAIN_AI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timer 1 min cowsswedededexeco cli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627</Words>
  <Application>Microsoft Office PowerPoint</Application>
  <PresentationFormat>On-screen Show (16:9)</PresentationFormat>
  <Paragraphs>91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MT</vt:lpstr>
      <vt:lpstr>Calibri</vt:lpstr>
      <vt:lpstr>Office Theme</vt:lpstr>
      <vt:lpstr>PowerPoint Presentation</vt:lpstr>
      <vt:lpstr>PowerPoint Presentation</vt:lpstr>
      <vt:lpstr>PowerPoint Presentation</vt:lpstr>
      <vt:lpstr>ARCHITECTURE</vt:lpstr>
      <vt:lpstr>IMPACT STATEMENT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DARSI Shanthi Priya (SAFRAN)</dc:creator>
  <cp:lastModifiedBy>Shanthi Darsi</cp:lastModifiedBy>
  <cp:revision>1</cp:revision>
  <dcterms:created xsi:type="dcterms:W3CDTF">2026-08-29T11:11:04Z</dcterms:created>
  <dcterms:modified xsi:type="dcterms:W3CDTF">2026-08-29T11:14:08Z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2026-08-29T00:00:00Z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2026-08-29T00:00:00Z</vt:filetime>
  </property>
  <property fmtid="{D5CDD505-2E9C-101B-9397-08002B2CF9AE}" pid="6" name="MSIP_Label_024ffcea-f25b-491e-9dc9-834516f3550e_ActionId">
    <vt:lpwstr>e720164f-ddc5-4f59-8d88-4cca63abf4d8</vt:lpwstr>
  </property>
  <property fmtid="{D5CDD505-2E9C-101B-9397-08002B2CF9AE}" pid="7" name="MSIP_Label_024ffcea-f25b-491e-9dc9-834516f3550e_ContentBits">
    <vt:lpwstr>1</vt:lpwstr>
  </property>
  <property fmtid="{D5CDD505-2E9C-101B-9397-08002B2CF9AE}" pid="8" name="MSIP_Label_024ffcea-f25b-491e-9dc9-834516f3550e_Enabled">
    <vt:lpwstr>true</vt:lpwstr>
  </property>
  <property fmtid="{D5CDD505-2E9C-101B-9397-08002B2CF9AE}" pid="9" name="MSIP_Label_024ffcea-f25b-491e-9dc9-834516f3550e_Method">
    <vt:lpwstr>Standard</vt:lpwstr>
  </property>
  <property fmtid="{D5CDD505-2E9C-101B-9397-08002B2CF9AE}" pid="10" name="MSIP_Label_024ffcea-f25b-491e-9dc9-834516f3550e_SiteId">
    <vt:lpwstr>d52b49b7-0c8f-4d89-8c4f-f20517306e08</vt:lpwstr>
  </property>
  <property fmtid="{D5CDD505-2E9C-101B-9397-08002B2CF9AE}" pid="11" name="Producer">
    <vt:lpwstr>Microsoft® PowerPoint® for Microsoft 365</vt:lpwstr>
  </property>
</Properties>
</file>